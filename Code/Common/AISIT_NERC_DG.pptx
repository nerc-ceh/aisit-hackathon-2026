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40" r:id="rId1"/>
    <p:sldMasterId id="2147483853" r:id="rId2"/>
  </p:sldMasterIdLst>
  <p:notesMasterIdLst>
    <p:notesMasterId r:id="rId16"/>
  </p:notesMasterIdLst>
  <p:sldIdLst>
    <p:sldId id="256" r:id="rId3"/>
    <p:sldId id="360" r:id="rId4"/>
    <p:sldId id="275" r:id="rId5"/>
    <p:sldId id="267" r:id="rId6"/>
    <p:sldId id="368" r:id="rId7"/>
    <p:sldId id="273" r:id="rId8"/>
    <p:sldId id="276" r:id="rId9"/>
    <p:sldId id="277" r:id="rId10"/>
    <p:sldId id="279" r:id="rId11"/>
    <p:sldId id="281" r:id="rId12"/>
    <p:sldId id="364" r:id="rId13"/>
    <p:sldId id="369" r:id="rId14"/>
    <p:sldId id="28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099FF"/>
    <a:srgbClr val="FFFFFF"/>
    <a:srgbClr val="DFDFDF"/>
    <a:srgbClr val="93A299"/>
    <a:srgbClr val="7F7F7F"/>
    <a:srgbClr val="D8DAEA"/>
    <a:srgbClr val="38C9C9"/>
    <a:srgbClr val="FD43FD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04C883-73CC-4D62-9279-D9DE1BA6BFDF}" v="21" dt="2026-09-08T18:37:26.867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8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es Thorpe-Morgan - BAS" userId="eda44d9c-74ff-41bc-885c-a7a85468e616" providerId="ADAL" clId="{316F6A91-E4E5-4395-B151-14E089CFDBE2}"/>
    <pc:docChg chg="custSel addSld delSld modSld sldOrd delMainMaster">
      <pc:chgData name="Charles Thorpe-Morgan - BAS" userId="eda44d9c-74ff-41bc-885c-a7a85468e616" providerId="ADAL" clId="{316F6A91-E4E5-4395-B151-14E089CFDBE2}" dt="2026-09-08T18:37:33.757" v="360" actId="403"/>
      <pc:docMkLst>
        <pc:docMk/>
      </pc:docMkLst>
      <pc:sldChg chg="modSp mod">
        <pc:chgData name="Charles Thorpe-Morgan - BAS" userId="eda44d9c-74ff-41bc-885c-a7a85468e616" providerId="ADAL" clId="{316F6A91-E4E5-4395-B151-14E089CFDBE2}" dt="2026-09-01T11:34:07.259" v="126" actId="20577"/>
        <pc:sldMkLst>
          <pc:docMk/>
          <pc:sldMk cId="505659311" sldId="256"/>
        </pc:sldMkLst>
        <pc:spChg chg="mod">
          <ac:chgData name="Charles Thorpe-Morgan - BAS" userId="eda44d9c-74ff-41bc-885c-a7a85468e616" providerId="ADAL" clId="{316F6A91-E4E5-4395-B151-14E089CFDBE2}" dt="2026-09-01T11:33:40.193" v="88" actId="20577"/>
          <ac:spMkLst>
            <pc:docMk/>
            <pc:sldMk cId="505659311" sldId="256"/>
            <ac:spMk id="2" creationId="{5F681A5A-7E25-67AD-E5CD-02CC34C3D727}"/>
          </ac:spMkLst>
        </pc:spChg>
        <pc:spChg chg="mod">
          <ac:chgData name="Charles Thorpe-Morgan - BAS" userId="eda44d9c-74ff-41bc-885c-a7a85468e616" providerId="ADAL" clId="{316F6A91-E4E5-4395-B151-14E089CFDBE2}" dt="2026-09-01T11:34:07.259" v="126" actId="20577"/>
          <ac:spMkLst>
            <pc:docMk/>
            <pc:sldMk cId="505659311" sldId="256"/>
            <ac:spMk id="3" creationId="{21DDD460-1463-C66F-FA5F-9060A64F51C0}"/>
          </ac:spMkLst>
        </pc:spChg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0" sldId="257"/>
        </pc:sldMkLst>
      </pc:sldChg>
      <pc:sldChg chg="addSp delSp modSp mod">
        <pc:chgData name="Charles Thorpe-Morgan - BAS" userId="eda44d9c-74ff-41bc-885c-a7a85468e616" providerId="ADAL" clId="{316F6A91-E4E5-4395-B151-14E089CFDBE2}" dt="2026-09-01T11:37:38.059" v="145" actId="403"/>
        <pc:sldMkLst>
          <pc:docMk/>
          <pc:sldMk cId="1909658720" sldId="267"/>
        </pc:sldMkLst>
        <pc:spChg chg="mod">
          <ac:chgData name="Charles Thorpe-Morgan - BAS" userId="eda44d9c-74ff-41bc-885c-a7a85468e616" providerId="ADAL" clId="{316F6A91-E4E5-4395-B151-14E089CFDBE2}" dt="2026-09-01T11:35:58.258" v="129"/>
          <ac:spMkLst>
            <pc:docMk/>
            <pc:sldMk cId="1909658720" sldId="267"/>
            <ac:spMk id="12" creationId="{D7A3A74B-8C95-D770-6FA0-50C546A50F93}"/>
          </ac:spMkLst>
        </pc:spChg>
        <pc:spChg chg="mod">
          <ac:chgData name="Charles Thorpe-Morgan - BAS" userId="eda44d9c-74ff-41bc-885c-a7a85468e616" providerId="ADAL" clId="{316F6A91-E4E5-4395-B151-14E089CFDBE2}" dt="2026-09-01T11:35:58.258" v="129"/>
          <ac:spMkLst>
            <pc:docMk/>
            <pc:sldMk cId="1909658720" sldId="267"/>
            <ac:spMk id="16" creationId="{A93F21F1-991A-DAD1-A034-34C1C97D7973}"/>
          </ac:spMkLst>
        </pc:spChg>
        <pc:spChg chg="add mod">
          <ac:chgData name="Charles Thorpe-Morgan - BAS" userId="eda44d9c-74ff-41bc-885c-a7a85468e616" providerId="ADAL" clId="{316F6A91-E4E5-4395-B151-14E089CFDBE2}" dt="2026-09-01T11:36:11.458" v="133" actId="1076"/>
          <ac:spMkLst>
            <pc:docMk/>
            <pc:sldMk cId="1909658720" sldId="267"/>
            <ac:spMk id="22" creationId="{941AD11F-7747-6DE0-9B19-2559F2F3F560}"/>
          </ac:spMkLst>
        </pc:spChg>
        <pc:spChg chg="mod">
          <ac:chgData name="Charles Thorpe-Morgan - BAS" userId="eda44d9c-74ff-41bc-885c-a7a85468e616" providerId="ADAL" clId="{316F6A91-E4E5-4395-B151-14E089CFDBE2}" dt="2026-09-01T11:36:34.838" v="136"/>
          <ac:spMkLst>
            <pc:docMk/>
            <pc:sldMk cId="1909658720" sldId="267"/>
            <ac:spMk id="24" creationId="{08CE182C-916A-2F7D-4C24-9C4230E0422F}"/>
          </ac:spMkLst>
        </pc:spChg>
        <pc:spChg chg="mod">
          <ac:chgData name="Charles Thorpe-Morgan - BAS" userId="eda44d9c-74ff-41bc-885c-a7a85468e616" providerId="ADAL" clId="{316F6A91-E4E5-4395-B151-14E089CFDBE2}" dt="2026-09-01T11:37:38.059" v="145" actId="403"/>
          <ac:spMkLst>
            <pc:docMk/>
            <pc:sldMk cId="1909658720" sldId="267"/>
            <ac:spMk id="25" creationId="{A303F2E5-D147-2AD1-4487-37B6394B54A4}"/>
          </ac:spMkLst>
        </pc:spChg>
        <pc:grpChg chg="add mod">
          <ac:chgData name="Charles Thorpe-Morgan - BAS" userId="eda44d9c-74ff-41bc-885c-a7a85468e616" providerId="ADAL" clId="{316F6A91-E4E5-4395-B151-14E089CFDBE2}" dt="2026-09-01T11:35:58.258" v="129"/>
          <ac:grpSpMkLst>
            <pc:docMk/>
            <pc:sldMk cId="1909658720" sldId="267"/>
            <ac:grpSpMk id="11" creationId="{D8819420-2310-F9EB-B654-8E77F5966072}"/>
          </ac:grpSpMkLst>
        </pc:grpChg>
        <pc:grpChg chg="add mod">
          <ac:chgData name="Charles Thorpe-Morgan - BAS" userId="eda44d9c-74ff-41bc-885c-a7a85468e616" providerId="ADAL" clId="{316F6A91-E4E5-4395-B151-14E089CFDBE2}" dt="2026-09-01T11:37:30.261" v="143" actId="1076"/>
          <ac:grpSpMkLst>
            <pc:docMk/>
            <pc:sldMk cId="1909658720" sldId="267"/>
            <ac:grpSpMk id="23" creationId="{1C2BF11A-18A2-042F-6CD5-CB771B079EFC}"/>
          </ac:grpSpMkLst>
        </pc:grpChg>
      </pc:sldChg>
      <pc:sldChg chg="addSp delSp modSp add del mod setBg delDesignElem">
        <pc:chgData name="Charles Thorpe-Morgan - BAS" userId="eda44d9c-74ff-41bc-885c-a7a85468e616" providerId="ADAL" clId="{316F6A91-E4E5-4395-B151-14E089CFDBE2}" dt="2026-09-08T15:02:22.911" v="314" actId="20577"/>
        <pc:sldMkLst>
          <pc:docMk/>
          <pc:sldMk cId="601112883" sldId="273"/>
        </pc:sldMkLst>
        <pc:spChg chg="mod">
          <ac:chgData name="Charles Thorpe-Morgan - BAS" userId="eda44d9c-74ff-41bc-885c-a7a85468e616" providerId="ADAL" clId="{316F6A91-E4E5-4395-B151-14E089CFDBE2}" dt="2026-09-08T15:02:22.911" v="314" actId="20577"/>
          <ac:spMkLst>
            <pc:docMk/>
            <pc:sldMk cId="601112883" sldId="273"/>
            <ac:spMk id="2" creationId="{1FE68AC0-3BEA-A114-D333-C4DAC1FB2D7B}"/>
          </ac:spMkLst>
        </pc:spChg>
        <pc:spChg chg="mod">
          <ac:chgData name="Charles Thorpe-Morgan - BAS" userId="eda44d9c-74ff-41bc-885c-a7a85468e616" providerId="ADAL" clId="{316F6A91-E4E5-4395-B151-14E089CFDBE2}" dt="2026-09-01T11:39:41.838" v="251" actId="20577"/>
          <ac:spMkLst>
            <pc:docMk/>
            <pc:sldMk cId="601112883" sldId="273"/>
            <ac:spMk id="4" creationId="{0123DBE5-D33B-02B1-E8EE-29B41AE30368}"/>
          </ac:spMkLst>
        </pc:spChg>
        <pc:spChg chg="mod">
          <ac:chgData name="Charles Thorpe-Morgan - BAS" userId="eda44d9c-74ff-41bc-885c-a7a85468e616" providerId="ADAL" clId="{316F6A91-E4E5-4395-B151-14E089CFDBE2}" dt="2026-09-01T11:40:24.284" v="262" actId="1076"/>
          <ac:spMkLst>
            <pc:docMk/>
            <pc:sldMk cId="601112883" sldId="273"/>
            <ac:spMk id="6" creationId="{09CF6B44-AF6A-79A7-72DA-8FB56AD9EB66}"/>
          </ac:spMkLst>
        </pc:spChg>
        <pc:picChg chg="add mod">
          <ac:chgData name="Charles Thorpe-Morgan - BAS" userId="eda44d9c-74ff-41bc-885c-a7a85468e616" providerId="ADAL" clId="{316F6A91-E4E5-4395-B151-14E089CFDBE2}" dt="2026-09-01T11:38:01.058" v="152" actId="1076"/>
          <ac:picMkLst>
            <pc:docMk/>
            <pc:sldMk cId="601112883" sldId="273"/>
            <ac:picMk id="8" creationId="{534FF11E-BDD0-7876-10D3-B0B3EA3EF832}"/>
          </ac:picMkLst>
        </pc:picChg>
        <pc:picChg chg="add mod">
          <ac:chgData name="Charles Thorpe-Morgan - BAS" userId="eda44d9c-74ff-41bc-885c-a7a85468e616" providerId="ADAL" clId="{316F6A91-E4E5-4395-B151-14E089CFDBE2}" dt="2026-09-01T11:40:18.205" v="260" actId="1076"/>
          <ac:picMkLst>
            <pc:docMk/>
            <pc:sldMk cId="601112883" sldId="273"/>
            <ac:picMk id="11" creationId="{56176166-2CA6-EE31-41D7-77F7FD24BD48}"/>
          </ac:picMkLst>
        </pc:picChg>
        <pc:picChg chg="mod">
          <ac:chgData name="Charles Thorpe-Morgan - BAS" userId="eda44d9c-74ff-41bc-885c-a7a85468e616" providerId="ADAL" clId="{316F6A91-E4E5-4395-B151-14E089CFDBE2}" dt="2026-09-01T10:21:53.163" v="9" actId="14100"/>
          <ac:picMkLst>
            <pc:docMk/>
            <pc:sldMk cId="601112883" sldId="273"/>
            <ac:picMk id="19" creationId="{67F90E33-6D84-D3D2-6631-80526A017B48}"/>
          </ac:picMkLst>
        </pc:picChg>
      </pc:sldChg>
      <pc:sldChg chg="delSp modSp add del mod">
        <pc:chgData name="Charles Thorpe-Morgan - BAS" userId="eda44d9c-74ff-41bc-885c-a7a85468e616" providerId="ADAL" clId="{316F6A91-E4E5-4395-B151-14E089CFDBE2}" dt="2026-09-08T17:55:27.301" v="351" actId="20577"/>
        <pc:sldMkLst>
          <pc:docMk/>
          <pc:sldMk cId="3427805806" sldId="276"/>
        </pc:sldMkLst>
        <pc:spChg chg="mod">
          <ac:chgData name="Charles Thorpe-Morgan - BAS" userId="eda44d9c-74ff-41bc-885c-a7a85468e616" providerId="ADAL" clId="{316F6A91-E4E5-4395-B151-14E089CFDBE2}" dt="2026-09-01T10:23:11.339" v="19" actId="1076"/>
          <ac:spMkLst>
            <pc:docMk/>
            <pc:sldMk cId="3427805806" sldId="276"/>
            <ac:spMk id="6" creationId="{C6487BDF-0A40-51A1-86BA-D74587F0E70D}"/>
          </ac:spMkLst>
        </pc:spChg>
        <pc:spChg chg="mod">
          <ac:chgData name="Charles Thorpe-Morgan - BAS" userId="eda44d9c-74ff-41bc-885c-a7a85468e616" providerId="ADAL" clId="{316F6A91-E4E5-4395-B151-14E089CFDBE2}" dt="2026-09-01T10:23:19.156" v="21" actId="14100"/>
          <ac:spMkLst>
            <pc:docMk/>
            <pc:sldMk cId="3427805806" sldId="276"/>
            <ac:spMk id="8" creationId="{11AE1AE9-E98B-A8AC-DFB5-5C0A65C6E044}"/>
          </ac:spMkLst>
        </pc:spChg>
        <pc:spChg chg="mod">
          <ac:chgData name="Charles Thorpe-Morgan - BAS" userId="eda44d9c-74ff-41bc-885c-a7a85468e616" providerId="ADAL" clId="{316F6A91-E4E5-4395-B151-14E089CFDBE2}" dt="2026-09-08T17:55:27.301" v="351" actId="20577"/>
          <ac:spMkLst>
            <pc:docMk/>
            <pc:sldMk cId="3427805806" sldId="276"/>
            <ac:spMk id="9" creationId="{25BCD9C7-B939-2391-C28C-1AA628E568B2}"/>
          </ac:spMkLst>
        </pc:spChg>
        <pc:spChg chg="mod">
          <ac:chgData name="Charles Thorpe-Morgan - BAS" userId="eda44d9c-74ff-41bc-885c-a7a85468e616" providerId="ADAL" clId="{316F6A91-E4E5-4395-B151-14E089CFDBE2}" dt="2026-09-01T10:22:53.420" v="15" actId="1076"/>
          <ac:spMkLst>
            <pc:docMk/>
            <pc:sldMk cId="3427805806" sldId="276"/>
            <ac:spMk id="15" creationId="{2C0201C2-CC9C-94B3-BC76-292AE76EA2BE}"/>
          </ac:spMkLst>
        </pc:spChg>
        <pc:picChg chg="del">
          <ac:chgData name="Charles Thorpe-Morgan - BAS" userId="eda44d9c-74ff-41bc-885c-a7a85468e616" providerId="ADAL" clId="{316F6A91-E4E5-4395-B151-14E089CFDBE2}" dt="2026-09-08T17:09:20.184" v="315" actId="478"/>
          <ac:picMkLst>
            <pc:docMk/>
            <pc:sldMk cId="3427805806" sldId="276"/>
            <ac:picMk id="5" creationId="{FD139C98-CA4E-158F-B716-DF78256166AE}"/>
          </ac:picMkLst>
        </pc:picChg>
      </pc:sldChg>
      <pc:sldChg chg="add del">
        <pc:chgData name="Charles Thorpe-Morgan - BAS" userId="eda44d9c-74ff-41bc-885c-a7a85468e616" providerId="ADAL" clId="{316F6A91-E4E5-4395-B151-14E089CFDBE2}" dt="2026-09-01T11:40:54.274" v="264"/>
        <pc:sldMkLst>
          <pc:docMk/>
          <pc:sldMk cId="3083338573" sldId="277"/>
        </pc:sldMkLst>
      </pc:sldChg>
      <pc:sldChg chg="delSp modSp add del mod">
        <pc:chgData name="Charles Thorpe-Morgan - BAS" userId="eda44d9c-74ff-41bc-885c-a7a85468e616" providerId="ADAL" clId="{316F6A91-E4E5-4395-B151-14E089CFDBE2}" dt="2026-09-08T17:20:26.651" v="349" actId="1038"/>
        <pc:sldMkLst>
          <pc:docMk/>
          <pc:sldMk cId="2466064154" sldId="279"/>
        </pc:sldMkLst>
        <pc:spChg chg="mod">
          <ac:chgData name="Charles Thorpe-Morgan - BAS" userId="eda44d9c-74ff-41bc-885c-a7a85468e616" providerId="ADAL" clId="{316F6A91-E4E5-4395-B151-14E089CFDBE2}" dt="2026-09-08T17:20:26.651" v="349" actId="1038"/>
          <ac:spMkLst>
            <pc:docMk/>
            <pc:sldMk cId="2466064154" sldId="279"/>
            <ac:spMk id="6" creationId="{AAEE437E-658D-FFFF-D518-98289EFB1DE9}"/>
          </ac:spMkLst>
        </pc:spChg>
        <pc:picChg chg="del">
          <ac:chgData name="Charles Thorpe-Morgan - BAS" userId="eda44d9c-74ff-41bc-885c-a7a85468e616" providerId="ADAL" clId="{316F6A91-E4E5-4395-B151-14E089CFDBE2}" dt="2026-09-08T17:09:44.641" v="316" actId="478"/>
          <ac:picMkLst>
            <pc:docMk/>
            <pc:sldMk cId="2466064154" sldId="279"/>
            <ac:picMk id="5" creationId="{704CECA2-A4A4-0FE3-8652-3E829D8F9522}"/>
          </ac:picMkLst>
        </pc:picChg>
      </pc:sldChg>
      <pc:sldChg chg="addSp delSp modSp add del mod">
        <pc:chgData name="Charles Thorpe-Morgan - BAS" userId="eda44d9c-74ff-41bc-885c-a7a85468e616" providerId="ADAL" clId="{316F6A91-E4E5-4395-B151-14E089CFDBE2}" dt="2026-09-01T11:44:20.066" v="305" actId="14100"/>
        <pc:sldMkLst>
          <pc:docMk/>
          <pc:sldMk cId="2894786374" sldId="280"/>
        </pc:sldMkLst>
        <pc:picChg chg="add mod modCrop">
          <ac:chgData name="Charles Thorpe-Morgan - BAS" userId="eda44d9c-74ff-41bc-885c-a7a85468e616" providerId="ADAL" clId="{316F6A91-E4E5-4395-B151-14E089CFDBE2}" dt="2026-09-01T11:44:20.066" v="305" actId="14100"/>
          <ac:picMkLst>
            <pc:docMk/>
            <pc:sldMk cId="2894786374" sldId="280"/>
            <ac:picMk id="10" creationId="{88C29AF2-46B7-C8CE-30F5-75FF1C2F72AF}"/>
          </ac:picMkLst>
        </pc:picChg>
      </pc:sldChg>
      <pc:sldChg chg="addSp delSp modSp add del mod">
        <pc:chgData name="Charles Thorpe-Morgan - BAS" userId="eda44d9c-74ff-41bc-885c-a7a85468e616" providerId="ADAL" clId="{316F6A91-E4E5-4395-B151-14E089CFDBE2}" dt="2026-09-01T11:42:13.755" v="283" actId="14100"/>
        <pc:sldMkLst>
          <pc:docMk/>
          <pc:sldMk cId="1099614592" sldId="281"/>
        </pc:sldMkLst>
        <pc:spChg chg="mod">
          <ac:chgData name="Charles Thorpe-Morgan - BAS" userId="eda44d9c-74ff-41bc-885c-a7a85468e616" providerId="ADAL" clId="{316F6A91-E4E5-4395-B151-14E089CFDBE2}" dt="2026-09-01T11:41:37.189" v="270" actId="14100"/>
          <ac:spMkLst>
            <pc:docMk/>
            <pc:sldMk cId="1099614592" sldId="281"/>
            <ac:spMk id="6" creationId="{E3008C8D-309C-08EF-984B-43B3F8F002F2}"/>
          </ac:spMkLst>
        </pc:spChg>
        <pc:picChg chg="add mod modCrop">
          <ac:chgData name="Charles Thorpe-Morgan - BAS" userId="eda44d9c-74ff-41bc-885c-a7a85468e616" providerId="ADAL" clId="{316F6A91-E4E5-4395-B151-14E089CFDBE2}" dt="2026-09-01T11:42:13.755" v="283" actId="14100"/>
          <ac:picMkLst>
            <pc:docMk/>
            <pc:sldMk cId="1099614592" sldId="281"/>
            <ac:picMk id="10" creationId="{529D5BF1-C0D6-ECAD-2AB4-2880A424199C}"/>
          </ac:picMkLst>
        </pc:picChg>
      </pc:sldChg>
      <pc:sldChg chg="del">
        <pc:chgData name="Charles Thorpe-Morgan - BAS" userId="eda44d9c-74ff-41bc-885c-a7a85468e616" providerId="ADAL" clId="{316F6A91-E4E5-4395-B151-14E089CFDBE2}" dt="2026-09-01T10:20:13.413" v="0" actId="47"/>
        <pc:sldMkLst>
          <pc:docMk/>
          <pc:sldMk cId="213696779" sldId="337"/>
        </pc:sldMkLst>
      </pc:sldChg>
      <pc:sldChg chg="del">
        <pc:chgData name="Charles Thorpe-Morgan - BAS" userId="eda44d9c-74ff-41bc-885c-a7a85468e616" providerId="ADAL" clId="{316F6A91-E4E5-4395-B151-14E089CFDBE2}" dt="2026-09-01T10:20:16.237" v="1" actId="47"/>
        <pc:sldMkLst>
          <pc:docMk/>
          <pc:sldMk cId="964997253" sldId="338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2195487460" sldId="339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3852825837" sldId="340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3401519811" sldId="342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1072057499" sldId="344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3032379154" sldId="345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3800317060" sldId="346"/>
        </pc:sldMkLst>
      </pc:sldChg>
      <pc:sldChg chg="del">
        <pc:chgData name="Charles Thorpe-Morgan - BAS" userId="eda44d9c-74ff-41bc-885c-a7a85468e616" providerId="ADAL" clId="{316F6A91-E4E5-4395-B151-14E089CFDBE2}" dt="2026-09-01T11:44:28.607" v="307" actId="47"/>
        <pc:sldMkLst>
          <pc:docMk/>
          <pc:sldMk cId="689013816" sldId="348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646226448" sldId="349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1111880488" sldId="350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135622545" sldId="351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2665234828" sldId="352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1694876529" sldId="353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131725680" sldId="354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3128499182" sldId="355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1953246038" sldId="356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0" sldId="358"/>
        </pc:sldMkLst>
      </pc:sldChg>
      <pc:sldChg chg="del">
        <pc:chgData name="Charles Thorpe-Morgan - BAS" userId="eda44d9c-74ff-41bc-885c-a7a85468e616" providerId="ADAL" clId="{316F6A91-E4E5-4395-B151-14E089CFDBE2}" dt="2026-09-01T10:20:20.202" v="2" actId="47"/>
        <pc:sldMkLst>
          <pc:docMk/>
          <pc:sldMk cId="0" sldId="359"/>
        </pc:sldMkLst>
      </pc:sldChg>
      <pc:sldChg chg="ord">
        <pc:chgData name="Charles Thorpe-Morgan - BAS" userId="eda44d9c-74ff-41bc-885c-a7a85468e616" providerId="ADAL" clId="{316F6A91-E4E5-4395-B151-14E089CFDBE2}" dt="2026-09-01T11:42:31.574" v="286"/>
        <pc:sldMkLst>
          <pc:docMk/>
          <pc:sldMk cId="474030230" sldId="364"/>
        </pc:sldMkLst>
      </pc:sldChg>
      <pc:sldChg chg="modSp new mod">
        <pc:chgData name="Charles Thorpe-Morgan - BAS" userId="eda44d9c-74ff-41bc-885c-a7a85468e616" providerId="ADAL" clId="{316F6A91-E4E5-4395-B151-14E089CFDBE2}" dt="2026-09-08T18:37:33.757" v="360" actId="403"/>
        <pc:sldMkLst>
          <pc:docMk/>
          <pc:sldMk cId="4026424494" sldId="369"/>
        </pc:sldMkLst>
        <pc:spChg chg="mod">
          <ac:chgData name="Charles Thorpe-Morgan - BAS" userId="eda44d9c-74ff-41bc-885c-a7a85468e616" providerId="ADAL" clId="{316F6A91-E4E5-4395-B151-14E089CFDBE2}" dt="2026-09-08T18:37:33.757" v="360" actId="403"/>
          <ac:spMkLst>
            <pc:docMk/>
            <pc:sldMk cId="4026424494" sldId="369"/>
            <ac:spMk id="3" creationId="{BC38FE70-0038-4E2B-1811-DEBAC49B130D}"/>
          </ac:spMkLst>
        </pc:spChg>
      </pc:sldChg>
      <pc:sldChg chg="del">
        <pc:chgData name="Charles Thorpe-Morgan - BAS" userId="eda44d9c-74ff-41bc-885c-a7a85468e616" providerId="ADAL" clId="{316F6A91-E4E5-4395-B151-14E089CFDBE2}" dt="2026-09-01T11:44:27.505" v="306" actId="47"/>
        <pc:sldMkLst>
          <pc:docMk/>
          <pc:sldMk cId="4076309261" sldId="371"/>
        </pc:sldMkLst>
      </pc:sldChg>
      <pc:sldMasterChg chg="del delSldLayout">
        <pc:chgData name="Charles Thorpe-Morgan - BAS" userId="eda44d9c-74ff-41bc-885c-a7a85468e616" providerId="ADAL" clId="{316F6A91-E4E5-4395-B151-14E089CFDBE2}" dt="2026-09-01T10:20:20.202" v="2" actId="47"/>
        <pc:sldMasterMkLst>
          <pc:docMk/>
          <pc:sldMasterMk cId="2938306646" sldId="2147483853"/>
        </pc:sldMasterMkLst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1818762494" sldId="2147483854"/>
          </pc:sldLayoutMkLst>
        </pc:sldLayoutChg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14127895" sldId="2147483855"/>
          </pc:sldLayoutMkLst>
        </pc:sldLayoutChg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1414838262" sldId="2147483856"/>
          </pc:sldLayoutMkLst>
        </pc:sldLayoutChg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946563215" sldId="2147483857"/>
          </pc:sldLayoutMkLst>
        </pc:sldLayoutChg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1787056997" sldId="2147483858"/>
          </pc:sldLayoutMkLst>
        </pc:sldLayoutChg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2514826518" sldId="2147483859"/>
          </pc:sldLayoutMkLst>
        </pc:sldLayoutChg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1326444599" sldId="2147483860"/>
          </pc:sldLayoutMkLst>
        </pc:sldLayoutChg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2820342893" sldId="2147483861"/>
          </pc:sldLayoutMkLst>
        </pc:sldLayoutChg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1744398134" sldId="2147483862"/>
          </pc:sldLayoutMkLst>
        </pc:sldLayoutChg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4189443217" sldId="2147483863"/>
          </pc:sldLayoutMkLst>
        </pc:sldLayoutChg>
        <pc:sldLayoutChg chg="del">
          <pc:chgData name="Charles Thorpe-Morgan - BAS" userId="eda44d9c-74ff-41bc-885c-a7a85468e616" providerId="ADAL" clId="{316F6A91-E4E5-4395-B151-14E089CFDBE2}" dt="2026-09-01T10:20:20.202" v="2" actId="47"/>
          <pc:sldLayoutMkLst>
            <pc:docMk/>
            <pc:sldMasterMk cId="2938306646" sldId="2147483853"/>
            <pc:sldLayoutMk cId="3486385725" sldId="21474838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2DCCC-1885-460A-B839-793B1C32D4AF}" type="datetimeFigureOut">
              <a:rPr lang="en-DE" smtClean="0"/>
              <a:t>09/08/2026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D2102-CDF8-4DD5-B091-065A4E438B4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9582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ED2102-CDF8-4DD5-B091-065A4E438B4F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1301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2a category is the design decision I'm proudest of — a rigid 'salinity is essential' rule would have thrown away every freshwater record. The schema had to fit the real data without weakening the seawater requirement.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ED2102-CDF8-4DD5-B091-065A4E438B4F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971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EB0BD48-0105-4A25-BF20-EF4BD8EA545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2498DC62-F7B1-4726-AC32-3794A4A410D6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8006C55A-EABD-4B1B-B190-6EA7B9690FBB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38CC4642-D54E-43CE-B959-CB53E29B7E70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40366622-B90E-4751-A5D2-309E454E7AAE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2403BEAF-1CE8-47EC-BB4B-FD0C285E051A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DE70A520-BDDA-417A-93ED-EE38A6F74663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1D20D0A8-3637-4500-8F9E-ED5A3EC18AFB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4C3E4C08-E016-4BEA-A228-0C57D3C7A9D6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C0DBCD61-5C90-44AB-9402-301ABB394AB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236FC910-2583-40C4-9028-A357F0BD13CD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6F01-A223-C5FB-773A-A303EAB64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DBA2F-DDC1-DC56-1DDE-6B13A3336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1EB97-F8F4-0C32-67C5-95EB6AEC0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91FE2-AFE6-C652-AB26-0DA350D8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0C430-E584-3B56-D211-432977A0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490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FAE4-1D14-6E4A-E02D-C85B1F6C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DCA92-3E6F-6C74-16E2-33FE5DB30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FEAFD-1869-69D4-349D-91503651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0072F-93F9-C855-4AEE-F20DCD15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9537F-A7F0-AD82-F244-0AF9F0D3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621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FDC8A-378B-0CF3-6C64-CC394C45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761E3-EB84-9399-732E-7CBDE5B1D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6D4B0-32EB-BB48-C02B-BC1AD468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B933-CED6-DF38-6DD3-AE831A59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7BD6F-C781-F50E-6B0D-99E436AE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248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EC1B-2D4D-3A53-B0AB-4BA23155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79823-F876-C727-57DB-90FF243D7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86356-98E2-2C0B-6CA1-FAC63DBD7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05495-EF27-9510-B7AF-A1EA6A209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17F32-3EFA-EAA6-7990-CE89A258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BE5B4-8DD5-9C1B-F417-9638C009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166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66D8-9508-8AC3-4295-069800EC2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2A9B7-D0C5-0BE5-C382-27679A348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9992C-130E-B321-9FF6-0A730B51F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54C45-10ED-255C-4239-E6F24C7A0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DC143C-C93F-70C8-3BE1-FA2B54A0E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C9050-FFBC-A304-F6EA-3C6DC0E76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106C5F-2F1B-C31B-E1CA-ED5AA0BB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A7D14-85F0-F88D-2612-394C7A8B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40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6093-A053-6898-7CBD-1A5681B20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6A8FE8-E179-1AD4-3711-C4ED795F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DDF9F-80D2-B19D-6A8B-477A06FC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AD649-6C4D-A226-B018-7A044475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9880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7493D-F54E-CE2B-C8F6-F31FAC2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EA7C5-BCD9-4B94-60C4-C0F7981E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D0855-DF1F-5F28-210E-726B9807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820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34B1-83A4-718D-432D-512D63B0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24219-DAFE-77B2-5E91-F15508631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A763E-FADC-F81C-8878-A43E99C19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5399E-AC1A-EAB5-E122-D57C51FF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34EE1-1FCC-A0BB-6FA6-DD0AE89B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2AFCA-8E95-FC6A-B951-7DE376AF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2108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2B45-E399-DD81-38EE-D6B3162F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C05DD2-E887-9091-614D-FACFE7AA6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543F3-1B4F-EC93-7FDA-B89E9A590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F82D6-5935-074F-C391-020634635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95D6B-6FEC-3901-843A-4DD0686F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539FB-4361-6CA8-23D3-97BFC525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7560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9A3D-1D78-6C31-3275-0FA18EB1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A3F11-D82E-AF18-5A45-913B78800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97271-3CCF-8DC5-BFF7-826AEFA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1C84D-FEFA-C556-AF70-1439847BE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C9BC-B0D9-47CF-6442-F67AFADF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1716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0D750-93E6-0C06-AD52-5B3F2BE5C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96E2C-640C-0394-7649-1DDCE578C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CD767-65C8-09F6-EAE1-0FEABDFD1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81E5F-C13B-AFC7-C3B9-16E992A8F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F8575-ED83-D9B0-1D45-0D6D4ED5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87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34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3474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50770" y="6264275"/>
            <a:ext cx="64123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400">
                <a:solidFill>
                  <a:srgbClr val="777777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52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63709-65A5-4C2F-CC49-AE9C02922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DF1CD-0A47-EE8C-FCDD-98E36714A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F1995-26D6-9D75-4F3C-32AC0AD83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EE37A-7E57-4404-B492-B6232C527CC1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2D21D-6CAF-16FE-7C78-9F7688DCF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CF6C9-1D17-0403-65C6-99EB42C7B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1B942-8A1B-4E30-94B6-2FA05F3DF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55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5.png"/><Relationship Id="rId7" Type="http://schemas.openxmlformats.org/officeDocument/2006/relationships/image" Target="../media/image2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isit.data.bas.ac.uk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hyperlink" Target="https://doi.org/10.5285/0dfb14d6-73a9-4273-99ed-b231ca581b1d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1A5A-7E25-67AD-E5CD-02CC34C3D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29" y="1508760"/>
            <a:ext cx="10986711" cy="2743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GB" sz="6000" dirty="0"/>
              <a:t>AISIT: Hackathon 	</a:t>
            </a:r>
            <a:br>
              <a:rPr lang="en-GB" sz="4000" dirty="0"/>
            </a:br>
            <a:r>
              <a:rPr lang="en-GB" sz="4000" dirty="0"/>
              <a:t>Project Overview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DD460-1463-C66F-FA5F-9060A64F5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29" y="4800600"/>
            <a:ext cx="10635056" cy="1691640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08.09.2026 – NERC Digital Gathering</a:t>
            </a:r>
          </a:p>
          <a:p>
            <a:r>
              <a:rPr lang="en-GB" dirty="0"/>
              <a:t>Charles Thorpe-Morgan, Ezra Kitson</a:t>
            </a:r>
          </a:p>
        </p:txBody>
      </p:sp>
    </p:spTree>
    <p:extLst>
      <p:ext uri="{BB962C8B-B14F-4D97-AF65-F5344CB8AC3E}">
        <p14:creationId xmlns:p14="http://schemas.microsoft.com/office/powerpoint/2010/main" val="50565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6F320-DBDC-60A5-95B5-C7FF3E03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08298-8032-5571-57F2-733B7AAFD4D8}"/>
              </a:ext>
            </a:extLst>
          </p:cNvPr>
          <p:cNvSpPr txBox="1"/>
          <p:nvPr/>
        </p:nvSpPr>
        <p:spPr>
          <a:xfrm>
            <a:off x="0" y="0"/>
            <a:ext cx="12192000" cy="637547"/>
          </a:xfrm>
          <a:prstGeom prst="rect">
            <a:avLst/>
          </a:prstGeom>
          <a:solidFill>
            <a:srgbClr val="F3A300"/>
          </a:solidFill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600" b="1" kern="100" dirty="0">
                <a:solidFill>
                  <a:schemeClr val="bg1"/>
                </a:solidFill>
                <a:effectLst/>
                <a:ea typeface="ADLaM Display" panose="020F0502020204030204" pitchFamily="2" charset="0"/>
                <a:cs typeface="ADLaM Display" panose="020F0502020204030204" pitchFamily="2" charset="0"/>
              </a:rPr>
              <a:t>Artificial Intelligence for Stable </a:t>
            </a:r>
            <a:r>
              <a:rPr lang="en-GB" sz="3600" b="1" kern="100" dirty="0" err="1">
                <a:solidFill>
                  <a:schemeClr val="bg1"/>
                </a:solidFill>
                <a:effectLst/>
                <a:ea typeface="ADLaM Display" panose="020F0502020204030204" pitchFamily="2" charset="0"/>
                <a:cs typeface="ADLaM Display" panose="020F0502020204030204" pitchFamily="2" charset="0"/>
              </a:rPr>
              <a:t>IsotopeTracers</a:t>
            </a:r>
            <a:endParaRPr lang="en-GB" sz="4400" kern="10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Agency FB" panose="020B0503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8FC47-03D5-862F-14A5-DF432DB65BC3}"/>
              </a:ext>
            </a:extLst>
          </p:cNvPr>
          <p:cNvSpPr txBox="1"/>
          <p:nvPr/>
        </p:nvSpPr>
        <p:spPr>
          <a:xfrm>
            <a:off x="3049" y="695785"/>
            <a:ext cx="12188951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OBJECTIVE </a:t>
            </a:r>
          </a:p>
          <a:p>
            <a:pPr lvl="0"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Develop a standardised and machine-readable database of Arctic freshwater tracer data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44BC39-63B2-B044-8B72-7EDEA3D7392B}"/>
              </a:ext>
            </a:extLst>
          </p:cNvPr>
          <p:cNvGrpSpPr/>
          <p:nvPr/>
        </p:nvGrpSpPr>
        <p:grpSpPr>
          <a:xfrm>
            <a:off x="3374232" y="1522358"/>
            <a:ext cx="5443537" cy="5261085"/>
            <a:chOff x="2495511" y="2026667"/>
            <a:chExt cx="4171954" cy="414337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F3C590A-C8DE-833D-56D0-6679DA4DF1F7}"/>
                </a:ext>
              </a:extLst>
            </p:cNvPr>
            <p:cNvGrpSpPr/>
            <p:nvPr/>
          </p:nvGrpSpPr>
          <p:grpSpPr>
            <a:xfrm>
              <a:off x="2495511" y="2026667"/>
              <a:ext cx="4171954" cy="4143375"/>
              <a:chOff x="4010021" y="1004887"/>
              <a:chExt cx="4171954" cy="414337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213BD33-A530-F989-4302-5271CB9CF040}"/>
                  </a:ext>
                </a:extLst>
              </p:cNvPr>
              <p:cNvGrpSpPr/>
              <p:nvPr/>
            </p:nvGrpSpPr>
            <p:grpSpPr>
              <a:xfrm>
                <a:off x="4010021" y="1004887"/>
                <a:ext cx="4171954" cy="4143375"/>
                <a:chOff x="4010021" y="1004887"/>
                <a:chExt cx="4171954" cy="4143375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889D251B-46BE-2266-459C-83DFB916DAE6}"/>
                    </a:ext>
                  </a:extLst>
                </p:cNvPr>
                <p:cNvSpPr/>
                <p:nvPr/>
              </p:nvSpPr>
              <p:spPr>
                <a:xfrm>
                  <a:off x="4010025" y="1004887"/>
                  <a:ext cx="4171950" cy="414337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E792EE64-F8C9-C30C-30A1-AEFD378D83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5998" y="1004887"/>
                  <a:ext cx="2" cy="2071687"/>
                </a:xfrm>
                <a:prstGeom prst="line">
                  <a:avLst/>
                </a:prstGeom>
                <a:ln w="8572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484E211C-B18E-EEF4-6D76-1F4527D6B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5998" y="2371725"/>
                  <a:ext cx="1962152" cy="704849"/>
                </a:xfrm>
                <a:prstGeom prst="line">
                  <a:avLst/>
                </a:prstGeom>
                <a:ln w="8572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8FAA394C-31F9-244E-C49D-63E3108F2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5998" y="3076574"/>
                  <a:ext cx="1328740" cy="1704976"/>
                </a:xfrm>
                <a:prstGeom prst="line">
                  <a:avLst/>
                </a:prstGeom>
                <a:ln w="8572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13A71C81-F10C-D292-89F5-D58A6F6835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05350" y="3076574"/>
                  <a:ext cx="1390648" cy="1704976"/>
                </a:xfrm>
                <a:prstGeom prst="line">
                  <a:avLst/>
                </a:prstGeom>
                <a:ln w="8572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85F788E-8896-F83F-66BF-1AE49747D2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010021" y="2480631"/>
                  <a:ext cx="2085977" cy="485661"/>
                </a:xfrm>
                <a:prstGeom prst="line">
                  <a:avLst/>
                </a:prstGeom>
                <a:ln w="8572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EA05B1E-2A5A-E000-73FF-A9CFDA526AA7}"/>
                  </a:ext>
                </a:extLst>
              </p:cNvPr>
              <p:cNvSpPr/>
              <p:nvPr/>
            </p:nvSpPr>
            <p:spPr>
              <a:xfrm>
                <a:off x="4727980" y="1684137"/>
                <a:ext cx="2736036" cy="278487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6E3CFAC-0460-C71B-D5A4-2EE1C9F56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4677" y="5556506"/>
              <a:ext cx="1675066" cy="374272"/>
            </a:xfrm>
            <a:prstGeom prst="rect">
              <a:avLst/>
            </a:prstGeom>
            <a:noFill/>
          </p:spPr>
        </p:pic>
        <p:pic>
          <p:nvPicPr>
            <p:cNvPr id="8" name="Picture 4" descr="Large colour National Oceanography Centre logo">
              <a:extLst>
                <a:ext uri="{FF2B5EF4-FFF2-40B4-BE49-F238E27FC236}">
                  <a16:creationId xmlns:a16="http://schemas.microsoft.com/office/drawing/2014/main" id="{1E609515-4E7E-992E-88CD-29EF305122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4836" y="4237939"/>
              <a:ext cx="579898" cy="579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24D102-09C6-79C5-9D74-61C4AB5037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2403" y="4205165"/>
              <a:ext cx="492511" cy="535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Natural Environment Research Council">
              <a:extLst>
                <a:ext uri="{FF2B5EF4-FFF2-40B4-BE49-F238E27FC236}">
                  <a16:creationId xmlns:a16="http://schemas.microsoft.com/office/drawing/2014/main" id="{999BDE25-D4D4-14ED-216F-3228DFDA76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7016" y="2454439"/>
              <a:ext cx="631548" cy="525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blue circle with yellow letters and a blue circle with yellow letters">
              <a:extLst>
                <a:ext uri="{FF2B5EF4-FFF2-40B4-BE49-F238E27FC236}">
                  <a16:creationId xmlns:a16="http://schemas.microsoft.com/office/drawing/2014/main" id="{9277F9B7-FA36-F2E5-8B2D-963ABE23F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1949" y="3659548"/>
              <a:ext cx="1880522" cy="813564"/>
            </a:xfrm>
            <a:prstGeom prst="rect">
              <a:avLst/>
            </a:prstGeom>
          </p:spPr>
        </p:pic>
        <p:pic>
          <p:nvPicPr>
            <p:cNvPr id="15" name="Picture 6" descr="Engineering and Physical Sciences Research Council">
              <a:extLst>
                <a:ext uri="{FF2B5EF4-FFF2-40B4-BE49-F238E27FC236}">
                  <a16:creationId xmlns:a16="http://schemas.microsoft.com/office/drawing/2014/main" id="{C0A5CF60-7F5D-FFDB-330E-386907ACD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6635" y="2393376"/>
              <a:ext cx="659555" cy="549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77125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8DBEB-B2BC-09C4-CD92-1D750BBA2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olar bear mother and baby crossing ice">
            <a:extLst>
              <a:ext uri="{FF2B5EF4-FFF2-40B4-BE49-F238E27FC236}">
                <a16:creationId xmlns:a16="http://schemas.microsoft.com/office/drawing/2014/main" id="{DA004732-DDAE-EDAA-CB01-5AE431ECA5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8554"/>
            <a:ext cx="12191980" cy="6856718"/>
          </a:xfrm>
          <a:prstGeom prst="rect">
            <a:avLst/>
          </a:prstGeom>
        </p:spPr>
      </p:pic>
      <p:pic>
        <p:nvPicPr>
          <p:cNvPr id="2" name="Picture 1" descr="A blue circle with yellow letters and a blue circle with yellow letters">
            <a:extLst>
              <a:ext uri="{FF2B5EF4-FFF2-40B4-BE49-F238E27FC236}">
                <a16:creationId xmlns:a16="http://schemas.microsoft.com/office/drawing/2014/main" id="{7FAA2ACA-A6C1-F09A-8591-8D90B7C8D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761" y="73410"/>
            <a:ext cx="2359184" cy="10050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1ABCE0C-A9D7-4C4A-0329-CC2408F88787}"/>
              </a:ext>
            </a:extLst>
          </p:cNvPr>
          <p:cNvSpPr txBox="1"/>
          <p:nvPr/>
        </p:nvSpPr>
        <p:spPr>
          <a:xfrm>
            <a:off x="3303918" y="499604"/>
            <a:ext cx="6107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8D90"/>
                </a:solidFill>
              </a:rPr>
              <a:t>Workpackage</a:t>
            </a:r>
            <a:r>
              <a:rPr lang="en-GB" dirty="0">
                <a:solidFill>
                  <a:srgbClr val="008D90"/>
                </a:solidFill>
              </a:rPr>
              <a:t> 1: Inputs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8F7E81-91EA-1341-F033-DBEBB815134B}"/>
              </a:ext>
            </a:extLst>
          </p:cNvPr>
          <p:cNvSpPr txBox="1"/>
          <p:nvPr/>
        </p:nvSpPr>
        <p:spPr>
          <a:xfrm>
            <a:off x="-30055" y="35798"/>
            <a:ext cx="12192000" cy="1001621"/>
          </a:xfrm>
          <a:prstGeom prst="rect">
            <a:avLst/>
          </a:prstGeom>
          <a:solidFill>
            <a:srgbClr val="F3A300"/>
          </a:solidFill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6000" b="1" dirty="0">
                <a:solidFill>
                  <a:schemeClr val="bg1"/>
                </a:solidFill>
              </a:rPr>
              <a:t>  </a:t>
            </a:r>
            <a:r>
              <a:rPr lang="en-GB" sz="4800" b="1" dirty="0">
                <a:solidFill>
                  <a:schemeClr val="bg1"/>
                </a:solidFill>
              </a:rPr>
              <a:t>Arctic freshwater and circulation</a:t>
            </a:r>
            <a:endParaRPr lang="en-GB" sz="6000" b="1" dirty="0">
              <a:solidFill>
                <a:schemeClr val="bg1"/>
              </a:solidFill>
            </a:endParaRPr>
          </a:p>
        </p:txBody>
      </p:sp>
      <p:pic>
        <p:nvPicPr>
          <p:cNvPr id="14" name="Picture 13" descr="A map of the earth&#10;&#10;AI-generated content may be incorrect.">
            <a:extLst>
              <a:ext uri="{FF2B5EF4-FFF2-40B4-BE49-F238E27FC236}">
                <a16:creationId xmlns:a16="http://schemas.microsoft.com/office/drawing/2014/main" id="{CC863465-80E4-8D18-ADDC-5C0BC39B88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729" y="1875228"/>
            <a:ext cx="6086479" cy="2789636"/>
          </a:xfrm>
          <a:prstGeom prst="rect">
            <a:avLst/>
          </a:prstGeom>
        </p:spPr>
      </p:pic>
      <p:pic>
        <p:nvPicPr>
          <p:cNvPr id="15" name="Main graphic">
            <a:extLst>
              <a:ext uri="{FF2B5EF4-FFF2-40B4-BE49-F238E27FC236}">
                <a16:creationId xmlns:a16="http://schemas.microsoft.com/office/drawing/2014/main" id="{EBAEF607-7AF5-D232-89A9-5D9517987C7A}"/>
              </a:ext>
            </a:extLst>
          </p:cNvPr>
          <p:cNvPicPr/>
          <p:nvPr/>
        </p:nvPicPr>
        <p:blipFill>
          <a:blip r:embed="rId5"/>
          <a:srcRect l="196" b="24536"/>
          <a:stretch>
            <a:fillRect/>
          </a:stretch>
        </p:blipFill>
        <p:spPr>
          <a:xfrm>
            <a:off x="1152437" y="1844784"/>
            <a:ext cx="3571875" cy="2789637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C08A32C-939C-349A-EE65-48F40969EA82}"/>
              </a:ext>
            </a:extLst>
          </p:cNvPr>
          <p:cNvSpPr txBox="1"/>
          <p:nvPr/>
        </p:nvSpPr>
        <p:spPr>
          <a:xfrm>
            <a:off x="6540055" y="1215347"/>
            <a:ext cx="5059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Idealised salinity structure in Arctic Ocean</a:t>
            </a:r>
          </a:p>
          <a:p>
            <a:r>
              <a:rPr lang="en-GB" sz="1600" b="1" dirty="0"/>
              <a:t>(also showing major flows – grey arrows)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6ACC68-65F5-46DB-9342-A5CFB7FE889C}"/>
              </a:ext>
            </a:extLst>
          </p:cNvPr>
          <p:cNvSpPr txBox="1"/>
          <p:nvPr/>
        </p:nvSpPr>
        <p:spPr>
          <a:xfrm>
            <a:off x="159932" y="1120519"/>
            <a:ext cx="5787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Modelled distribution of freshwater </a:t>
            </a:r>
          </a:p>
          <a:p>
            <a:pPr algn="ctr"/>
            <a:r>
              <a:rPr lang="en-GB" sz="1600" b="1" dirty="0"/>
              <a:t>in Arctic Ocean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FC966A-5BC6-0574-5443-9762A861C1D9}"/>
              </a:ext>
            </a:extLst>
          </p:cNvPr>
          <p:cNvSpPr txBox="1"/>
          <p:nvPr/>
        </p:nvSpPr>
        <p:spPr>
          <a:xfrm>
            <a:off x="9655762" y="4598519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Spielhagen</a:t>
            </a:r>
            <a:r>
              <a:rPr lang="en-GB" sz="1400" dirty="0"/>
              <a:t> and Bauch, 2015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EF63B2-48CB-589A-7492-0A88153C45AF}"/>
              </a:ext>
            </a:extLst>
          </p:cNvPr>
          <p:cNvSpPr txBox="1"/>
          <p:nvPr/>
        </p:nvSpPr>
        <p:spPr>
          <a:xfrm>
            <a:off x="3237204" y="4580840"/>
            <a:ext cx="1704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Serreze et al. 2006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47E2A1-2F9F-1984-994F-74F08AB26495}"/>
              </a:ext>
            </a:extLst>
          </p:cNvPr>
          <p:cNvSpPr txBox="1"/>
          <p:nvPr/>
        </p:nvSpPr>
        <p:spPr>
          <a:xfrm>
            <a:off x="228596" y="4888617"/>
            <a:ext cx="11506036" cy="142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Freshwater inputs to the Arctic Ocean drive ocean currents</a:t>
            </a: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These inputs are changing rapidly</a:t>
            </a: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Modelling impacts requires validation by field-data </a:t>
            </a:r>
          </a:p>
        </p:txBody>
      </p:sp>
    </p:spTree>
    <p:extLst>
      <p:ext uri="{BB962C8B-B14F-4D97-AF65-F5344CB8AC3E}">
        <p14:creationId xmlns:p14="http://schemas.microsoft.com/office/powerpoint/2010/main" val="77542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0E016-9677-8A4D-5064-8D20D599C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olar bear mother and baby crossing ice">
            <a:extLst>
              <a:ext uri="{FF2B5EF4-FFF2-40B4-BE49-F238E27FC236}">
                <a16:creationId xmlns:a16="http://schemas.microsoft.com/office/drawing/2014/main" id="{20A55921-6169-CEB2-3FD5-7845BE8185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34597" y="69021"/>
            <a:ext cx="12191980" cy="685671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A13B539-78FE-EB33-291A-738C4A4DF5D1}"/>
              </a:ext>
            </a:extLst>
          </p:cNvPr>
          <p:cNvGrpSpPr/>
          <p:nvPr/>
        </p:nvGrpSpPr>
        <p:grpSpPr>
          <a:xfrm>
            <a:off x="2935224" y="1978407"/>
            <a:ext cx="8590780" cy="4675634"/>
            <a:chOff x="5270507" y="2317845"/>
            <a:chExt cx="6757237" cy="383124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1C9A4C-E53D-73D8-7C98-BDC7A17E6E99}"/>
                </a:ext>
              </a:extLst>
            </p:cNvPr>
            <p:cNvGrpSpPr/>
            <p:nvPr/>
          </p:nvGrpSpPr>
          <p:grpSpPr>
            <a:xfrm>
              <a:off x="5270507" y="2317845"/>
              <a:ext cx="6757237" cy="3831243"/>
              <a:chOff x="5270507" y="2317845"/>
              <a:chExt cx="6757237" cy="383124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6696F58-AE76-9DB0-62D5-020CBF644F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70507" y="2414952"/>
                <a:ext cx="6757237" cy="3734136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F874B8-0856-9E1D-37FE-7C07C26EE5B8}"/>
                  </a:ext>
                </a:extLst>
              </p:cNvPr>
              <p:cNvSpPr txBox="1"/>
              <p:nvPr/>
            </p:nvSpPr>
            <p:spPr>
              <a:xfrm>
                <a:off x="5971822" y="2317845"/>
                <a:ext cx="1462088" cy="317749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>
                    <a:solidFill>
                      <a:schemeClr val="bg1"/>
                    </a:solidFill>
                  </a:rPr>
                  <a:t>O</a:t>
                </a:r>
                <a:r>
                  <a:rPr lang="en-GB" baseline="30000">
                    <a:solidFill>
                      <a:schemeClr val="bg1"/>
                    </a:solidFill>
                  </a:rPr>
                  <a:t>18</a:t>
                </a:r>
                <a:r>
                  <a:rPr lang="en-GB">
                    <a:solidFill>
                      <a:schemeClr val="bg1"/>
                    </a:solidFill>
                  </a:rPr>
                  <a:t>-poor H</a:t>
                </a:r>
                <a:r>
                  <a:rPr lang="en-GB" baseline="-25000">
                    <a:solidFill>
                      <a:schemeClr val="bg1"/>
                    </a:solidFill>
                  </a:rPr>
                  <a:t>2</a:t>
                </a:r>
                <a:r>
                  <a:rPr lang="en-GB">
                    <a:solidFill>
                      <a:schemeClr val="bg1"/>
                    </a:solidFill>
                  </a:rPr>
                  <a:t>O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7AC537-F7D2-F9EA-79A5-D85479904150}"/>
                  </a:ext>
                </a:extLst>
              </p:cNvPr>
              <p:cNvSpPr txBox="1"/>
              <p:nvPr/>
            </p:nvSpPr>
            <p:spPr>
              <a:xfrm>
                <a:off x="7237361" y="5775060"/>
                <a:ext cx="1610692" cy="317749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>
                    <a:solidFill>
                      <a:schemeClr val="bg1"/>
                    </a:solidFill>
                  </a:rPr>
                  <a:t>O</a:t>
                </a:r>
                <a:r>
                  <a:rPr lang="en-GB" baseline="30000">
                    <a:solidFill>
                      <a:schemeClr val="bg1"/>
                    </a:solidFill>
                  </a:rPr>
                  <a:t>18</a:t>
                </a:r>
                <a:r>
                  <a:rPr lang="en-GB">
                    <a:solidFill>
                      <a:schemeClr val="bg1"/>
                    </a:solidFill>
                  </a:rPr>
                  <a:t>-rich sea ice</a:t>
                </a:r>
              </a:p>
            </p:txBody>
          </p:sp>
        </p:grpSp>
        <p:sp>
          <p:nvSpPr>
            <p:cNvPr id="6" name="Down Arrow 9">
              <a:extLst>
                <a:ext uri="{FF2B5EF4-FFF2-40B4-BE49-F238E27FC236}">
                  <a16:creationId xmlns:a16="http://schemas.microsoft.com/office/drawing/2014/main" id="{BC893859-0981-C96B-2243-0797AE375408}"/>
                </a:ext>
              </a:extLst>
            </p:cNvPr>
            <p:cNvSpPr/>
            <p:nvPr/>
          </p:nvSpPr>
          <p:spPr>
            <a:xfrm>
              <a:off x="10755859" y="3896354"/>
              <a:ext cx="210820" cy="922020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EBDE4C0-8926-211E-E8C4-A78E7EC42CE9}"/>
              </a:ext>
            </a:extLst>
          </p:cNvPr>
          <p:cNvSpPr txBox="1"/>
          <p:nvPr/>
        </p:nvSpPr>
        <p:spPr>
          <a:xfrm>
            <a:off x="3303918" y="499604"/>
            <a:ext cx="6107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8D90"/>
                </a:solidFill>
              </a:rPr>
              <a:t>Workpackage</a:t>
            </a:r>
            <a:r>
              <a:rPr lang="en-GB" dirty="0">
                <a:solidFill>
                  <a:srgbClr val="008D90"/>
                </a:solidFill>
              </a:rPr>
              <a:t> 1: Inputs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E62EBD-E453-F3AB-17A8-46A0DE0C2F87}"/>
              </a:ext>
            </a:extLst>
          </p:cNvPr>
          <p:cNvSpPr txBox="1"/>
          <p:nvPr/>
        </p:nvSpPr>
        <p:spPr>
          <a:xfrm>
            <a:off x="-22439" y="18554"/>
            <a:ext cx="12192000" cy="819776"/>
          </a:xfrm>
          <a:prstGeom prst="rect">
            <a:avLst/>
          </a:prstGeom>
          <a:solidFill>
            <a:srgbClr val="F3A300"/>
          </a:solidFill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800" b="1" dirty="0">
                <a:solidFill>
                  <a:schemeClr val="bg1"/>
                </a:solidFill>
              </a:rPr>
              <a:t>	</a:t>
            </a:r>
            <a:r>
              <a:rPr lang="el-GR" sz="4800" b="1" dirty="0">
                <a:solidFill>
                  <a:schemeClr val="bg1"/>
                </a:solidFill>
              </a:rPr>
              <a:t>δ18 </a:t>
            </a:r>
            <a:r>
              <a:rPr lang="en-GB" sz="4800" b="1" dirty="0">
                <a:solidFill>
                  <a:schemeClr val="bg1"/>
                </a:solidFill>
              </a:rPr>
              <a:t>O as a freshwater tracer  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819420-2310-F9EB-B654-8E77F5966072}"/>
              </a:ext>
            </a:extLst>
          </p:cNvPr>
          <p:cNvGrpSpPr/>
          <p:nvPr/>
        </p:nvGrpSpPr>
        <p:grpSpPr>
          <a:xfrm>
            <a:off x="76406" y="1263730"/>
            <a:ext cx="3055324" cy="2362594"/>
            <a:chOff x="-107064" y="1312021"/>
            <a:chExt cx="3055324" cy="236259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A3A74B-8C95-D770-6FA0-50C546A50F93}"/>
                </a:ext>
              </a:extLst>
            </p:cNvPr>
            <p:cNvSpPr/>
            <p:nvPr/>
          </p:nvSpPr>
          <p:spPr>
            <a:xfrm>
              <a:off x="-58540" y="1312021"/>
              <a:ext cx="2935626" cy="2023618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3F21F1-991A-DAD1-A034-34C1C97D7973}"/>
                </a:ext>
              </a:extLst>
            </p:cNvPr>
            <p:cNvSpPr txBox="1"/>
            <p:nvPr/>
          </p:nvSpPr>
          <p:spPr>
            <a:xfrm>
              <a:off x="-107064" y="1366291"/>
              <a:ext cx="3055324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Aptos" panose="02110004020202020204"/>
                </a:rPr>
                <a:t>Potential freshwater sources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Aptos" panose="02110004020202020204"/>
                </a:rPr>
                <a:t>into the Arctic Ocean: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Aptos" panose="02110004020202020204"/>
                </a:rPr>
                <a:t>Glaciers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Aptos" panose="02110004020202020204"/>
                </a:rPr>
                <a:t>Sea ice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Aptos" panose="02110004020202020204"/>
                </a:rPr>
                <a:t>Rivers and precipitation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Aptos" panose="02110004020202020204"/>
                </a:rPr>
                <a:t>Inflows from other oceans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41AD11F-7747-6DE0-9B19-2559F2F3F560}"/>
              </a:ext>
            </a:extLst>
          </p:cNvPr>
          <p:cNvSpPr/>
          <p:nvPr/>
        </p:nvSpPr>
        <p:spPr>
          <a:xfrm>
            <a:off x="8456882" y="2597525"/>
            <a:ext cx="3172257" cy="124803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is the mix of freshwater inputs to an open ocean sampling point?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2BF11A-18A2-042F-6CD5-CB771B079EFC}"/>
              </a:ext>
            </a:extLst>
          </p:cNvPr>
          <p:cNvGrpSpPr/>
          <p:nvPr/>
        </p:nvGrpSpPr>
        <p:grpSpPr>
          <a:xfrm>
            <a:off x="124930" y="4407811"/>
            <a:ext cx="3317566" cy="2276808"/>
            <a:chOff x="-107064" y="1312021"/>
            <a:chExt cx="2984150" cy="202361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8CE182C-916A-2F7D-4C24-9C4230E0422F}"/>
                </a:ext>
              </a:extLst>
            </p:cNvPr>
            <p:cNvSpPr/>
            <p:nvPr/>
          </p:nvSpPr>
          <p:spPr>
            <a:xfrm>
              <a:off x="-58540" y="1312021"/>
              <a:ext cx="2935626" cy="2023618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303F2E5-D147-2AD1-4487-37B6394B54A4}"/>
                </a:ext>
              </a:extLst>
            </p:cNvPr>
            <p:cNvSpPr txBox="1"/>
            <p:nvPr/>
          </p:nvSpPr>
          <p:spPr>
            <a:xfrm>
              <a:off x="-107064" y="1366291"/>
              <a:ext cx="2883136" cy="1805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rgbClr val="156082"/>
                  </a:solidFill>
                  <a:latin typeface="Aptos" panose="020B0004020202020204" pitchFamily="34" charset="0"/>
                </a:rPr>
                <a:t>Vast amounts of tracer data but highly fragmented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rgbClr val="156082"/>
                  </a:solidFill>
                  <a:latin typeface="Aptos" panose="020B0004020202020204" pitchFamily="34" charset="0"/>
                </a:rPr>
                <a:t>Repositories, papers and personal archives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en-US" b="1" dirty="0">
                <a:solidFill>
                  <a:srgbClr val="156082"/>
                </a:solidFill>
                <a:latin typeface="Aptos" panose="020B00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US" dirty="0">
                  <a:solidFill>
                    <a:srgbClr val="156082"/>
                  </a:solidFill>
                  <a:latin typeface="Aptos" panose="020B0004020202020204" pitchFamily="34" charset="0"/>
                </a:rPr>
                <a:t>No </a:t>
              </a:r>
              <a:r>
                <a:rPr lang="en-US" altLang="en-US" dirty="0" err="1">
                  <a:solidFill>
                    <a:srgbClr val="156082"/>
                  </a:solidFill>
                  <a:latin typeface="Aptos" panose="020B0004020202020204" pitchFamily="34" charset="0"/>
                </a:rPr>
                <a:t>centralised</a:t>
              </a:r>
              <a:r>
                <a:rPr lang="en-US" altLang="en-US" dirty="0">
                  <a:solidFill>
                    <a:srgbClr val="156082"/>
                  </a:solidFill>
                  <a:latin typeface="Aptos" panose="020B0004020202020204" pitchFamily="34" charset="0"/>
                </a:rPr>
                <a:t>, up to date, source of this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965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8E80-8B23-4A43-D082-4D7FF0B68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7470" y="92075"/>
            <a:ext cx="6732233" cy="1325562"/>
          </a:xfrm>
        </p:spPr>
        <p:txBody>
          <a:bodyPr>
            <a:normAutofit/>
          </a:bodyPr>
          <a:lstStyle/>
          <a:p>
            <a:r>
              <a:rPr lang="en-GB" dirty="0"/>
              <a:t>Schema &amp; Metadata Standards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442888-3029-4F43-941E-A226052FB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1055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5D5C9-5D40-D261-A30C-83AB9E0B4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2288627"/>
            <a:ext cx="4019312" cy="22910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A0557-F13F-BE23-0A16-A80ED18EB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766" y="1417637"/>
            <a:ext cx="5979377" cy="5230813"/>
          </a:xfrm>
        </p:spPr>
        <p:txBody>
          <a:bodyPr>
            <a:normAutofit/>
          </a:bodyPr>
          <a:lstStyle/>
          <a:p>
            <a:r>
              <a:rPr lang="en-US" altLang="en-US" sz="1600" dirty="0">
                <a:latin typeface="Arial" panose="020B0604020202020204" pitchFamily="34" charset="0"/>
              </a:rPr>
              <a:t>Schema co-designed with data management team,  oceanography experts and ML teams</a:t>
            </a:r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Schema that worked for all users</a:t>
            </a:r>
          </a:p>
          <a:p>
            <a:r>
              <a:rPr lang="en-US" altLang="en-US" sz="1600" b="1" dirty="0">
                <a:latin typeface="Arial" panose="020B0604020202020204" pitchFamily="34" charset="0"/>
              </a:rPr>
              <a:t>Four-tier field classification: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Essential (1)</a:t>
            </a:r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Contributes to essential (2)</a:t>
            </a:r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Essential for non-freshwater (2a)</a:t>
            </a:r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Desirable (3) </a:t>
            </a:r>
          </a:p>
          <a:p>
            <a:r>
              <a:rPr lang="en-US" altLang="en-US" sz="1600" dirty="0">
                <a:latin typeface="Arial" panose="020B0604020202020204" pitchFamily="34" charset="0"/>
              </a:rPr>
              <a:t>10 mandatory fields incl. date, position  δ¹⁸O value, salinity</a:t>
            </a:r>
          </a:p>
          <a:p>
            <a:r>
              <a:rPr lang="en-US" altLang="en-US" sz="1600" dirty="0">
                <a:latin typeface="Arial" panose="020B0604020202020204" pitchFamily="34" charset="0"/>
              </a:rPr>
              <a:t>Standards applied:</a:t>
            </a:r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ACDD &amp; CF conventions </a:t>
            </a:r>
          </a:p>
          <a:p>
            <a:pPr lvl="1"/>
            <a:r>
              <a:rPr lang="en-US" altLang="en-US" sz="1400" b="1" dirty="0">
                <a:latin typeface="Arial" panose="020B0604020202020204" pitchFamily="34" charset="0"/>
              </a:rPr>
              <a:t>ISO 8601</a:t>
            </a:r>
            <a:r>
              <a:rPr lang="en-US" altLang="en-US" sz="1400" dirty="0">
                <a:latin typeface="Arial" panose="020B0604020202020204" pitchFamily="34" charset="0"/>
              </a:rPr>
              <a:t> datetimes </a:t>
            </a:r>
          </a:p>
          <a:p>
            <a:pPr lvl="1"/>
            <a:r>
              <a:rPr lang="en-US" altLang="en-US" sz="1200" b="1" dirty="0">
                <a:latin typeface="Arial" panose="020B0604020202020204" pitchFamily="34" charset="0"/>
              </a:rPr>
              <a:t>WOCE</a:t>
            </a:r>
            <a:r>
              <a:rPr lang="en-US" altLang="en-US" sz="1200" dirty="0">
                <a:latin typeface="Arial" panose="020B0604020202020204" pitchFamily="34" charset="0"/>
              </a:rPr>
              <a:t> QC flags</a:t>
            </a:r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Custom flags for important dataset aspects</a:t>
            </a:r>
          </a:p>
          <a:p>
            <a:r>
              <a:rPr lang="en-US" altLang="en-US" sz="1600" dirty="0">
                <a:latin typeface="Arial" panose="020B0604020202020204" pitchFamily="34" charset="0"/>
              </a:rPr>
              <a:t>FAIR principles core to database / metadata </a:t>
            </a:r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CROISSANT metadata file for machine readability</a:t>
            </a:r>
          </a:p>
          <a:p>
            <a:endParaRPr lang="en-GB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72F8B-509D-69B4-DBD9-AABA4B05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59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C82E8-7EEA-F394-E750-2736AA49D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olar bear mother and baby crossing ice">
            <a:extLst>
              <a:ext uri="{FF2B5EF4-FFF2-40B4-BE49-F238E27FC236}">
                <a16:creationId xmlns:a16="http://schemas.microsoft.com/office/drawing/2014/main" id="{67F90E33-6D84-D3D2-6631-80526A017B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0" y="0"/>
            <a:ext cx="12194260" cy="6858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D9BAF0F-BA97-1C9E-6FE2-37EF3C0AEE20}"/>
              </a:ext>
            </a:extLst>
          </p:cNvPr>
          <p:cNvGrpSpPr/>
          <p:nvPr/>
        </p:nvGrpSpPr>
        <p:grpSpPr>
          <a:xfrm>
            <a:off x="-25949" y="8406"/>
            <a:ext cx="12243879" cy="1056588"/>
            <a:chOff x="-25949" y="8406"/>
            <a:chExt cx="12243879" cy="105658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E68DD1-9AFC-A12F-64C8-B10A2C018110}"/>
                </a:ext>
              </a:extLst>
            </p:cNvPr>
            <p:cNvSpPr/>
            <p:nvPr/>
          </p:nvSpPr>
          <p:spPr>
            <a:xfrm>
              <a:off x="-25949" y="8406"/>
              <a:ext cx="12243879" cy="1051677"/>
            </a:xfrm>
            <a:prstGeom prst="rect">
              <a:avLst/>
            </a:prstGeom>
            <a:solidFill>
              <a:srgbClr val="F3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23DBE5-D33B-02B1-E8EE-29B41AE30368}"/>
                </a:ext>
              </a:extLst>
            </p:cNvPr>
            <p:cNvSpPr txBox="1"/>
            <p:nvPr/>
          </p:nvSpPr>
          <p:spPr>
            <a:xfrm>
              <a:off x="-22439" y="18554"/>
              <a:ext cx="12192000" cy="774315"/>
            </a:xfrm>
            <a:prstGeom prst="rect">
              <a:avLst/>
            </a:prstGeom>
            <a:solidFill>
              <a:srgbClr val="F3A300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4500" b="1" dirty="0">
                  <a:solidFill>
                    <a:schemeClr val="bg1"/>
                  </a:solidFill>
                </a:rPr>
                <a:t>   AISIT Database (version 1.0.0)</a:t>
              </a:r>
            </a:p>
          </p:txBody>
        </p:sp>
        <p:pic>
          <p:nvPicPr>
            <p:cNvPr id="5" name="Picture 4" descr="A blue circle with yellow letters and a blue circle with yellow letters">
              <a:extLst>
                <a:ext uri="{FF2B5EF4-FFF2-40B4-BE49-F238E27FC236}">
                  <a16:creationId xmlns:a16="http://schemas.microsoft.com/office/drawing/2014/main" id="{31DBD655-575B-433F-DF95-53D06F1E2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0377" y="59941"/>
              <a:ext cx="2359184" cy="1005053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9CF6B44-AF6A-79A7-72DA-8FB56AD9EB66}"/>
              </a:ext>
            </a:extLst>
          </p:cNvPr>
          <p:cNvSpPr txBox="1"/>
          <p:nvPr/>
        </p:nvSpPr>
        <p:spPr>
          <a:xfrm>
            <a:off x="6106105" y="1925696"/>
            <a:ext cx="49731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45,713 unique δ¹⁸O salinity pairs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99 datasets</a:t>
            </a:r>
            <a:br>
              <a:rPr lang="en-GB" sz="2000" dirty="0"/>
            </a:b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Timespan: 1967 – 2025</a:t>
            </a:r>
          </a:p>
          <a:p>
            <a:endParaRPr lang="en-GB" sz="2000" dirty="0"/>
          </a:p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E68AC0-3BEA-A114-D333-C4DAC1FB2D7B}"/>
              </a:ext>
            </a:extLst>
          </p:cNvPr>
          <p:cNvSpPr txBox="1"/>
          <p:nvPr/>
        </p:nvSpPr>
        <p:spPr>
          <a:xfrm>
            <a:off x="5577840" y="1141402"/>
            <a:ext cx="6961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Database creators:</a:t>
            </a:r>
            <a:br>
              <a:rPr lang="en-GB" sz="2000" dirty="0"/>
            </a:br>
            <a:r>
              <a:rPr lang="en-GB" sz="2000" dirty="0"/>
              <a:t>Charles Thorpe-Morgan and Emily Rowlands - BAS</a:t>
            </a:r>
          </a:p>
        </p:txBody>
      </p:sp>
      <p:pic>
        <p:nvPicPr>
          <p:cNvPr id="8" name="Picture 7" descr="A map of the world&#10;&#10;AI-generated content may be incorrect.">
            <a:extLst>
              <a:ext uri="{FF2B5EF4-FFF2-40B4-BE49-F238E27FC236}">
                <a16:creationId xmlns:a16="http://schemas.microsoft.com/office/drawing/2014/main" id="{534FF11E-BDD0-7876-10D3-B0B3EA3EF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68" y="1243947"/>
            <a:ext cx="5415569" cy="5430189"/>
          </a:xfrm>
          <a:prstGeom prst="rect">
            <a:avLst/>
          </a:prstGeom>
        </p:spPr>
      </p:pic>
      <p:pic>
        <p:nvPicPr>
          <p:cNvPr id="11" name="Picture 10" descr="A graph of water and water&#10;&#10;AI-generated content may be incorrect.">
            <a:extLst>
              <a:ext uri="{FF2B5EF4-FFF2-40B4-BE49-F238E27FC236}">
                <a16:creationId xmlns:a16="http://schemas.microsoft.com/office/drawing/2014/main" id="{56176166-2CA6-EE31-41D7-77F7FD24B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561" y="3450484"/>
            <a:ext cx="5675359" cy="322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112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21C90-617E-A0A8-2E83-A0B25C0E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olar bear mother and baby crossing ice">
            <a:extLst>
              <a:ext uri="{FF2B5EF4-FFF2-40B4-BE49-F238E27FC236}">
                <a16:creationId xmlns:a16="http://schemas.microsoft.com/office/drawing/2014/main" id="{C168962F-2F56-FA83-E039-55AAB19389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8305E1D-F1E4-0595-75B1-2C1A341B65DE}"/>
              </a:ext>
            </a:extLst>
          </p:cNvPr>
          <p:cNvGrpSpPr/>
          <p:nvPr/>
        </p:nvGrpSpPr>
        <p:grpSpPr>
          <a:xfrm>
            <a:off x="-25949" y="8406"/>
            <a:ext cx="12295778" cy="1051677"/>
            <a:chOff x="-25949" y="8406"/>
            <a:chExt cx="12295778" cy="105167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386FAD-DD11-8EE1-AA08-3C3FF497885B}"/>
                </a:ext>
              </a:extLst>
            </p:cNvPr>
            <p:cNvSpPr/>
            <p:nvPr/>
          </p:nvSpPr>
          <p:spPr>
            <a:xfrm>
              <a:off x="-25949" y="8406"/>
              <a:ext cx="12243879" cy="1051677"/>
            </a:xfrm>
            <a:prstGeom prst="rect">
              <a:avLst/>
            </a:prstGeom>
            <a:solidFill>
              <a:srgbClr val="F3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5BEFCED-E385-798F-CA9B-E1253D86FCED}"/>
                </a:ext>
              </a:extLst>
            </p:cNvPr>
            <p:cNvSpPr txBox="1"/>
            <p:nvPr/>
          </p:nvSpPr>
          <p:spPr>
            <a:xfrm>
              <a:off x="77829" y="59941"/>
              <a:ext cx="12192000" cy="807913"/>
            </a:xfrm>
            <a:prstGeom prst="rect">
              <a:avLst/>
            </a:prstGeom>
            <a:solidFill>
              <a:srgbClr val="F3A300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4500" b="1" dirty="0">
                  <a:solidFill>
                    <a:schemeClr val="bg1"/>
                  </a:solidFill>
                </a:rPr>
                <a:t>Initial Machine learning applications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B7DC5A1-111A-25C7-D253-12DD1D7CC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" y="3419944"/>
            <a:ext cx="6284595" cy="32703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CA427E-3CFB-AF3B-D9FC-630ED0859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163" y="3666165"/>
            <a:ext cx="3341478" cy="2911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487BDF-0A40-51A1-86BA-D74587F0E70D}"/>
              </a:ext>
            </a:extLst>
          </p:cNvPr>
          <p:cNvSpPr txBox="1"/>
          <p:nvPr/>
        </p:nvSpPr>
        <p:spPr>
          <a:xfrm>
            <a:off x="258127" y="2511048"/>
            <a:ext cx="11980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Reconstructing a gridded </a:t>
            </a:r>
            <a:r>
              <a:rPr lang="el-GR" sz="2400" b="1" dirty="0"/>
              <a:t>δ</a:t>
            </a:r>
            <a:r>
              <a:rPr lang="en-GB" sz="2400" b="1" dirty="0"/>
              <a:t>18 O distribution to determine major contributors to Arctic seawater across years and seasons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E1AE9-E98B-A8AC-DFB5-5C0A65C6E044}"/>
              </a:ext>
            </a:extLst>
          </p:cNvPr>
          <p:cNvSpPr txBox="1"/>
          <p:nvPr/>
        </p:nvSpPr>
        <p:spPr>
          <a:xfrm>
            <a:off x="7214954" y="3419944"/>
            <a:ext cx="52676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dirty="0" err="1">
                <a:solidFill>
                  <a:schemeClr val="bg1"/>
                </a:solidFill>
                <a:highlight>
                  <a:srgbClr val="FFFFFF"/>
                </a:highlight>
              </a:rPr>
              <a:t>Subsetted</a:t>
            </a:r>
            <a:r>
              <a:rPr lang="en-GB" sz="2600" dirty="0">
                <a:solidFill>
                  <a:schemeClr val="bg1"/>
                </a:solidFill>
                <a:highlight>
                  <a:srgbClr val="FFFFFF"/>
                </a:highlight>
              </a:rPr>
              <a:t> dataset for training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6D0AA251-D1BE-7591-54AD-DB129B03C1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117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1D2875-4DA7-8AD6-2D31-9C8C8F266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343" y="787690"/>
            <a:ext cx="925951" cy="1234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5279AE-5B61-36F6-6E4C-B903C2B40C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829" y="787690"/>
            <a:ext cx="970845" cy="12346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41ABF6-BCF9-A3B0-AFD8-B1DB600698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8457" y="808210"/>
            <a:ext cx="993292" cy="1234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168F18-0779-797F-8EC4-CC7CA8267C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1581" r="36102"/>
          <a:stretch>
            <a:fillRect/>
          </a:stretch>
        </p:blipFill>
        <p:spPr>
          <a:xfrm>
            <a:off x="4105670" y="787690"/>
            <a:ext cx="970844" cy="12562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0201C2-CC9C-94B3-BC76-292AE76EA2BE}"/>
              </a:ext>
            </a:extLst>
          </p:cNvPr>
          <p:cNvSpPr txBox="1"/>
          <p:nvPr/>
        </p:nvSpPr>
        <p:spPr>
          <a:xfrm>
            <a:off x="1538805" y="2044320"/>
            <a:ext cx="74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Yevgeny Aksenov, </a:t>
            </a: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Tom Prime</a:t>
            </a:r>
            <a:r>
              <a:rPr lang="en-GB" dirty="0"/>
              <a:t>, Archie Cable, Adrian Martin - NOC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BCD9C7-B939-2391-C28C-1AA628E568B2}"/>
              </a:ext>
            </a:extLst>
          </p:cNvPr>
          <p:cNvSpPr txBox="1"/>
          <p:nvPr/>
        </p:nvSpPr>
        <p:spPr>
          <a:xfrm>
            <a:off x="9534939" y="1803304"/>
            <a:ext cx="2137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See Tom’s talk Weds 9</a:t>
            </a:r>
            <a:r>
              <a:rPr lang="en-GB" baseline="30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</a:t>
            </a: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16:50</a:t>
            </a:r>
          </a:p>
        </p:txBody>
      </p:sp>
    </p:spTree>
    <p:extLst>
      <p:ext uri="{BB962C8B-B14F-4D97-AF65-F5344CB8AC3E}">
        <p14:creationId xmlns:p14="http://schemas.microsoft.com/office/powerpoint/2010/main" val="3427805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0BC6-C40F-7F82-C84F-2044A8B9C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olar bear mother and baby crossing ice">
            <a:extLst>
              <a:ext uri="{FF2B5EF4-FFF2-40B4-BE49-F238E27FC236}">
                <a16:creationId xmlns:a16="http://schemas.microsoft.com/office/drawing/2014/main" id="{86B3A33D-A4D7-2DC3-C510-F2757D63FC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99D5108-5FAD-3373-7796-FAAF604E927B}"/>
              </a:ext>
            </a:extLst>
          </p:cNvPr>
          <p:cNvGrpSpPr/>
          <p:nvPr/>
        </p:nvGrpSpPr>
        <p:grpSpPr>
          <a:xfrm>
            <a:off x="-25949" y="8406"/>
            <a:ext cx="12295778" cy="1056588"/>
            <a:chOff x="-25949" y="8406"/>
            <a:chExt cx="12295778" cy="105658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387DA1-35CF-B367-9515-08B9967D750A}"/>
                </a:ext>
              </a:extLst>
            </p:cNvPr>
            <p:cNvSpPr/>
            <p:nvPr/>
          </p:nvSpPr>
          <p:spPr>
            <a:xfrm>
              <a:off x="-25949" y="8406"/>
              <a:ext cx="12243879" cy="1051677"/>
            </a:xfrm>
            <a:prstGeom prst="rect">
              <a:avLst/>
            </a:prstGeom>
            <a:solidFill>
              <a:srgbClr val="F3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B93B13-17EA-A5FE-6C76-B3C4E21F1965}"/>
                </a:ext>
              </a:extLst>
            </p:cNvPr>
            <p:cNvSpPr txBox="1"/>
            <p:nvPr/>
          </p:nvSpPr>
          <p:spPr>
            <a:xfrm>
              <a:off x="77829" y="59941"/>
              <a:ext cx="12192000" cy="807913"/>
            </a:xfrm>
            <a:prstGeom prst="rect">
              <a:avLst/>
            </a:prstGeom>
            <a:solidFill>
              <a:srgbClr val="F3A300"/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4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Initial Machine learning applications</a:t>
              </a:r>
            </a:p>
          </p:txBody>
        </p:sp>
        <p:pic>
          <p:nvPicPr>
            <p:cNvPr id="5" name="Picture 4" descr="A blue circle with yellow letters and a blue circle with yellow letters">
              <a:extLst>
                <a:ext uri="{FF2B5EF4-FFF2-40B4-BE49-F238E27FC236}">
                  <a16:creationId xmlns:a16="http://schemas.microsoft.com/office/drawing/2014/main" id="{B14D3107-6741-C555-548E-36C322884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0377" y="59941"/>
              <a:ext cx="2359184" cy="1005053"/>
            </a:xfrm>
            <a:prstGeom prst="rect">
              <a:avLst/>
            </a:prstGeom>
          </p:spPr>
        </p:pic>
      </p:grpSp>
      <p:pic>
        <p:nvPicPr>
          <p:cNvPr id="7" name="Picture 4">
            <a:extLst>
              <a:ext uri="{FF2B5EF4-FFF2-40B4-BE49-F238E27FC236}">
                <a16:creationId xmlns:a16="http://schemas.microsoft.com/office/drawing/2014/main" id="{576C879E-7489-FA34-86D3-0EF976314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15" y="1163500"/>
            <a:ext cx="7767586" cy="184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929DCD-9982-6BCC-EE25-0C4505747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11" y="3024708"/>
            <a:ext cx="7734895" cy="1840756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A97FBAB-8044-6D48-A472-D639BF981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00" y="4824705"/>
            <a:ext cx="7733592" cy="184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0059B0-64F8-7705-700D-96429498AA66}"/>
              </a:ext>
            </a:extLst>
          </p:cNvPr>
          <p:cNvSpPr txBox="1"/>
          <p:nvPr/>
        </p:nvSpPr>
        <p:spPr>
          <a:xfrm>
            <a:off x="8369870" y="1734924"/>
            <a:ext cx="300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Sea-ice mass fraction 1994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339D9A-2DEF-89B3-0607-D740A3A004F4}"/>
              </a:ext>
            </a:extLst>
          </p:cNvPr>
          <p:cNvSpPr txBox="1"/>
          <p:nvPr/>
        </p:nvSpPr>
        <p:spPr>
          <a:xfrm>
            <a:off x="8369870" y="3445681"/>
            <a:ext cx="3339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Sea-water mass fraction 1994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984381-BC28-7C63-06D4-3DD63C088A62}"/>
              </a:ext>
            </a:extLst>
          </p:cNvPr>
          <p:cNvSpPr txBox="1"/>
          <p:nvPr/>
        </p:nvSpPr>
        <p:spPr>
          <a:xfrm>
            <a:off x="8312191" y="5056721"/>
            <a:ext cx="3736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Meteoric-water mass fraction 1994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DFE8C-FE1F-1451-C726-25A3EFE67C32}"/>
              </a:ext>
            </a:extLst>
          </p:cNvPr>
          <p:cNvSpPr txBox="1"/>
          <p:nvPr/>
        </p:nvSpPr>
        <p:spPr>
          <a:xfrm>
            <a:off x="817924" y="1136362"/>
            <a:ext cx="1181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Dec-Jan-Feb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0616E-0479-7845-1062-BCD72E072811}"/>
              </a:ext>
            </a:extLst>
          </p:cNvPr>
          <p:cNvSpPr txBox="1"/>
          <p:nvPr/>
        </p:nvSpPr>
        <p:spPr>
          <a:xfrm>
            <a:off x="2506853" y="1149029"/>
            <a:ext cx="1181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Mar-Apr-May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A0AE50-EBEA-7898-316A-2CC2CB9BBA4F}"/>
              </a:ext>
            </a:extLst>
          </p:cNvPr>
          <p:cNvSpPr txBox="1"/>
          <p:nvPr/>
        </p:nvSpPr>
        <p:spPr>
          <a:xfrm>
            <a:off x="5932891" y="1133679"/>
            <a:ext cx="131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Sep-Oct-Nov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393F2E-B11A-371B-EB30-AABC44259473}"/>
              </a:ext>
            </a:extLst>
          </p:cNvPr>
          <p:cNvSpPr/>
          <p:nvPr/>
        </p:nvSpPr>
        <p:spPr>
          <a:xfrm>
            <a:off x="3532256" y="1172106"/>
            <a:ext cx="769595" cy="93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10319E-FEA7-9C99-4B46-8904260AB855}"/>
              </a:ext>
            </a:extLst>
          </p:cNvPr>
          <p:cNvSpPr/>
          <p:nvPr/>
        </p:nvSpPr>
        <p:spPr>
          <a:xfrm>
            <a:off x="3870325" y="3162900"/>
            <a:ext cx="1019175" cy="93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FEE5D-338E-864B-A080-ECEB3563CD84}"/>
              </a:ext>
            </a:extLst>
          </p:cNvPr>
          <p:cNvSpPr txBox="1"/>
          <p:nvPr/>
        </p:nvSpPr>
        <p:spPr>
          <a:xfrm>
            <a:off x="4237612" y="1133678"/>
            <a:ext cx="1181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Jun-Jul-Aug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C91AC-3F05-94E0-E323-30292AF8AFAB}"/>
              </a:ext>
            </a:extLst>
          </p:cNvPr>
          <p:cNvSpPr/>
          <p:nvPr/>
        </p:nvSpPr>
        <p:spPr>
          <a:xfrm>
            <a:off x="3532255" y="3048545"/>
            <a:ext cx="1166745" cy="93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8D679D-D358-D78F-8615-696BF5EF0AA1}"/>
              </a:ext>
            </a:extLst>
          </p:cNvPr>
          <p:cNvSpPr/>
          <p:nvPr/>
        </p:nvSpPr>
        <p:spPr>
          <a:xfrm>
            <a:off x="3333680" y="4845157"/>
            <a:ext cx="1390720" cy="93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0D3419-16FD-7ADB-9636-C81EB7A24006}"/>
              </a:ext>
            </a:extLst>
          </p:cNvPr>
          <p:cNvSpPr/>
          <p:nvPr/>
        </p:nvSpPr>
        <p:spPr>
          <a:xfrm>
            <a:off x="576315" y="3142448"/>
            <a:ext cx="6802385" cy="114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F1A6F8-92B7-C446-69A9-F53B6A96CE0B}"/>
              </a:ext>
            </a:extLst>
          </p:cNvPr>
          <p:cNvSpPr/>
          <p:nvPr/>
        </p:nvSpPr>
        <p:spPr>
          <a:xfrm>
            <a:off x="728715" y="4939060"/>
            <a:ext cx="6802385" cy="114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169B0F-7A39-1736-C9DF-1CD368F2353A}"/>
              </a:ext>
            </a:extLst>
          </p:cNvPr>
          <p:cNvSpPr/>
          <p:nvPr/>
        </p:nvSpPr>
        <p:spPr>
          <a:xfrm>
            <a:off x="817924" y="2901819"/>
            <a:ext cx="6802385" cy="114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EE85C9-0BE9-92D0-6EBA-7D2B3D6D090E}"/>
              </a:ext>
            </a:extLst>
          </p:cNvPr>
          <p:cNvSpPr/>
          <p:nvPr/>
        </p:nvSpPr>
        <p:spPr>
          <a:xfrm>
            <a:off x="900658" y="4774729"/>
            <a:ext cx="6802385" cy="114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CA78FF-94B0-6A9C-DA20-B98E0EA92ED5}"/>
              </a:ext>
            </a:extLst>
          </p:cNvPr>
          <p:cNvSpPr/>
          <p:nvPr/>
        </p:nvSpPr>
        <p:spPr>
          <a:xfrm>
            <a:off x="552670" y="6571558"/>
            <a:ext cx="6802385" cy="114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338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513CC-1B2C-03E4-879A-710708EC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olar bear mother and baby crossing ice">
            <a:extLst>
              <a:ext uri="{FF2B5EF4-FFF2-40B4-BE49-F238E27FC236}">
                <a16:creationId xmlns:a16="http://schemas.microsoft.com/office/drawing/2014/main" id="{5670B7A2-1108-0D4D-0497-FCDE5BEF28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8BED5C8-DAAE-660E-C531-4EB17F239CCF}"/>
              </a:ext>
            </a:extLst>
          </p:cNvPr>
          <p:cNvGrpSpPr/>
          <p:nvPr/>
        </p:nvGrpSpPr>
        <p:grpSpPr>
          <a:xfrm>
            <a:off x="-25949" y="8406"/>
            <a:ext cx="12295778" cy="1051677"/>
            <a:chOff x="-25949" y="8406"/>
            <a:chExt cx="12295778" cy="105167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3BE8BB-8B3E-1561-5086-2C5CB35A02FB}"/>
                </a:ext>
              </a:extLst>
            </p:cNvPr>
            <p:cNvSpPr/>
            <p:nvPr/>
          </p:nvSpPr>
          <p:spPr>
            <a:xfrm>
              <a:off x="-25949" y="8406"/>
              <a:ext cx="12243879" cy="1051677"/>
            </a:xfrm>
            <a:prstGeom prst="rect">
              <a:avLst/>
            </a:prstGeom>
            <a:solidFill>
              <a:srgbClr val="F3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9E45A36-D414-EC82-2580-1BF26F4E8B98}"/>
                </a:ext>
              </a:extLst>
            </p:cNvPr>
            <p:cNvSpPr txBox="1"/>
            <p:nvPr/>
          </p:nvSpPr>
          <p:spPr>
            <a:xfrm>
              <a:off x="77829" y="59941"/>
              <a:ext cx="12192000" cy="807913"/>
            </a:xfrm>
            <a:prstGeom prst="rect">
              <a:avLst/>
            </a:prstGeom>
            <a:solidFill>
              <a:srgbClr val="F3A300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4500" b="1" dirty="0">
                  <a:solidFill>
                    <a:schemeClr val="bg1"/>
                  </a:solidFill>
                </a:rPr>
                <a:t>Initial Machine learning applications</a:t>
              </a: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74B9B46D-A6F2-4366-1EF9-69809D1D1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6" y="1987148"/>
            <a:ext cx="5762625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17F9DB-E96F-A1CF-B307-68841B304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4" y="1987148"/>
            <a:ext cx="5676900" cy="4124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C3F38B-9EE1-1719-188A-CBDEC4A3F1F5}"/>
              </a:ext>
            </a:extLst>
          </p:cNvPr>
          <p:cNvSpPr txBox="1"/>
          <p:nvPr/>
        </p:nvSpPr>
        <p:spPr>
          <a:xfrm>
            <a:off x="219075" y="1415958"/>
            <a:ext cx="576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Annual </a:t>
            </a:r>
            <a:r>
              <a:rPr lang="el-GR" dirty="0"/>
              <a:t>δ</a:t>
            </a:r>
            <a:r>
              <a:rPr lang="en-GB" dirty="0"/>
              <a:t>18 O anomaly averaged across longitude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486302-5B71-0A91-FD76-A8EC913E398A}"/>
              </a:ext>
            </a:extLst>
          </p:cNvPr>
          <p:cNvSpPr txBox="1"/>
          <p:nvPr/>
        </p:nvSpPr>
        <p:spPr>
          <a:xfrm>
            <a:off x="6621607" y="1451584"/>
            <a:ext cx="4694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Annual </a:t>
            </a:r>
            <a:r>
              <a:rPr lang="el-GR" dirty="0"/>
              <a:t>δ</a:t>
            </a:r>
            <a:r>
              <a:rPr lang="en-GB" dirty="0"/>
              <a:t>18 O anomaly gradient along latitude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E437E-658D-FFFF-D518-98289EFB1DE9}"/>
              </a:ext>
            </a:extLst>
          </p:cNvPr>
          <p:cNvSpPr txBox="1"/>
          <p:nvPr/>
        </p:nvSpPr>
        <p:spPr>
          <a:xfrm>
            <a:off x="46621" y="6259009"/>
            <a:ext cx="11941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Potential to identify influence of Arctic Ocean Oscillation on freshwater input anomalies</a:t>
            </a:r>
          </a:p>
        </p:txBody>
      </p:sp>
    </p:spTree>
    <p:extLst>
      <p:ext uri="{BB962C8B-B14F-4D97-AF65-F5344CB8AC3E}">
        <p14:creationId xmlns:p14="http://schemas.microsoft.com/office/powerpoint/2010/main" val="246606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134C4-CEBD-13A9-D7D0-65117F3A8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63FCEF-30FC-10A8-0554-82903EFFCE57}"/>
              </a:ext>
            </a:extLst>
          </p:cNvPr>
          <p:cNvSpPr/>
          <p:nvPr/>
        </p:nvSpPr>
        <p:spPr>
          <a:xfrm>
            <a:off x="1242323" y="4569500"/>
            <a:ext cx="9686334" cy="2368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 descr="Polar bear mother and baby crossing ice">
            <a:extLst>
              <a:ext uri="{FF2B5EF4-FFF2-40B4-BE49-F238E27FC236}">
                <a16:creationId xmlns:a16="http://schemas.microsoft.com/office/drawing/2014/main" id="{85D3FEAE-A67C-2AB3-61E7-EDB7D44F40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1" y="-7124"/>
            <a:ext cx="12236858" cy="685671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1331328-74E2-F027-E159-DCEED0BDFC4F}"/>
              </a:ext>
            </a:extLst>
          </p:cNvPr>
          <p:cNvGrpSpPr/>
          <p:nvPr/>
        </p:nvGrpSpPr>
        <p:grpSpPr>
          <a:xfrm>
            <a:off x="-25949" y="8406"/>
            <a:ext cx="12295778" cy="1056588"/>
            <a:chOff x="-25949" y="8406"/>
            <a:chExt cx="12295778" cy="105658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0FEC1A-B4DD-A58D-0265-71DBF456F520}"/>
                </a:ext>
              </a:extLst>
            </p:cNvPr>
            <p:cNvSpPr/>
            <p:nvPr/>
          </p:nvSpPr>
          <p:spPr>
            <a:xfrm>
              <a:off x="-25949" y="8406"/>
              <a:ext cx="12243879" cy="1051677"/>
            </a:xfrm>
            <a:prstGeom prst="rect">
              <a:avLst/>
            </a:prstGeom>
            <a:solidFill>
              <a:srgbClr val="F3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FA8B07-229E-5212-6429-2050B538D917}"/>
                </a:ext>
              </a:extLst>
            </p:cNvPr>
            <p:cNvSpPr txBox="1"/>
            <p:nvPr/>
          </p:nvSpPr>
          <p:spPr>
            <a:xfrm>
              <a:off x="77829" y="59941"/>
              <a:ext cx="12192000" cy="807913"/>
            </a:xfrm>
            <a:prstGeom prst="rect">
              <a:avLst/>
            </a:prstGeom>
            <a:solidFill>
              <a:srgbClr val="F3A300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4500" b="1" dirty="0">
                  <a:solidFill>
                    <a:schemeClr val="bg1"/>
                  </a:solidFill>
                </a:rPr>
                <a:t>AI community challenge </a:t>
              </a:r>
            </a:p>
          </p:txBody>
        </p:sp>
        <p:pic>
          <p:nvPicPr>
            <p:cNvPr id="5" name="Picture 4" descr="A blue circle with yellow letters and a blue circle with yellow letters">
              <a:extLst>
                <a:ext uri="{FF2B5EF4-FFF2-40B4-BE49-F238E27FC236}">
                  <a16:creationId xmlns:a16="http://schemas.microsoft.com/office/drawing/2014/main" id="{FA2FB6DE-CFE2-B365-830E-CAFEC3355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0377" y="59941"/>
              <a:ext cx="2359184" cy="1005053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3008C8D-309C-08EF-984B-43B3F8F002F2}"/>
              </a:ext>
            </a:extLst>
          </p:cNvPr>
          <p:cNvSpPr txBox="1"/>
          <p:nvPr/>
        </p:nvSpPr>
        <p:spPr>
          <a:xfrm>
            <a:off x="663115" y="3059787"/>
            <a:ext cx="11178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Aptos" panose="020B0004020202020204" pitchFamily="34" charset="0"/>
              </a:rPr>
              <a:t>Challenge:</a:t>
            </a:r>
          </a:p>
          <a:p>
            <a:r>
              <a:rPr lang="en-GB" sz="2400" dirty="0">
                <a:latin typeface="Aptos" panose="020B0004020202020204" pitchFamily="34" charset="0"/>
              </a:rPr>
              <a:t>Create a </a:t>
            </a:r>
            <a:r>
              <a:rPr lang="en-GB" sz="2400" dirty="0" err="1">
                <a:latin typeface="Aptos" panose="020B0004020202020204" pitchFamily="34" charset="0"/>
              </a:rPr>
              <a:t>Jupyter</a:t>
            </a:r>
            <a:r>
              <a:rPr lang="en-GB" sz="2400" dirty="0">
                <a:latin typeface="Aptos" panose="020B0004020202020204" pitchFamily="34" charset="0"/>
              </a:rPr>
              <a:t> notebook that identifies and visualises key features of Arctic freshwater flow using the AISIT database and supporting environmental datasets.</a:t>
            </a:r>
            <a:endParaRPr lang="en-GB" sz="2400" b="1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494A6-4679-DBDA-A81B-FBD6FB457F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791"/>
          <a:stretch>
            <a:fillRect/>
          </a:stretch>
        </p:blipFill>
        <p:spPr>
          <a:xfrm>
            <a:off x="2926597" y="1131719"/>
            <a:ext cx="1399461" cy="15526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0E07C0-A527-451B-C3A7-6BF3A034AE41}"/>
              </a:ext>
            </a:extLst>
          </p:cNvPr>
          <p:cNvSpPr txBox="1"/>
          <p:nvPr/>
        </p:nvSpPr>
        <p:spPr>
          <a:xfrm>
            <a:off x="2230561" y="2726365"/>
            <a:ext cx="726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Eza Kitson (UKCEH), Charles Thorpe-Morgan (BAS), Geraint Tarling (BAS)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C60F3E-BD8D-0A04-C859-BBF3966579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599" y="4732426"/>
            <a:ext cx="3062472" cy="14645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3B836C-D51B-A9A2-A4F1-6B069A633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299" y="4701643"/>
            <a:ext cx="3062472" cy="14953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BF5817F-37CF-8608-5A6D-BBEDD8E8028A}"/>
              </a:ext>
            </a:extLst>
          </p:cNvPr>
          <p:cNvSpPr txBox="1"/>
          <p:nvPr/>
        </p:nvSpPr>
        <p:spPr>
          <a:xfrm>
            <a:off x="5081326" y="6236602"/>
            <a:ext cx="1132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AO index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270798-1B4D-6EA7-99CD-D7F4A72BDB60}"/>
              </a:ext>
            </a:extLst>
          </p:cNvPr>
          <p:cNvSpPr txBox="1"/>
          <p:nvPr/>
        </p:nvSpPr>
        <p:spPr>
          <a:xfrm>
            <a:off x="7133940" y="6203263"/>
            <a:ext cx="3251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Neural network simulation using AISIT database</a:t>
            </a:r>
          </a:p>
        </p:txBody>
      </p:sp>
      <p:sp>
        <p:nvSpPr>
          <p:cNvPr id="23" name="AutoShape 6" descr="Image result for kaggle image dataset">
            <a:extLst>
              <a:ext uri="{FF2B5EF4-FFF2-40B4-BE49-F238E27FC236}">
                <a16:creationId xmlns:a16="http://schemas.microsoft.com/office/drawing/2014/main" id="{C24BF288-561B-FB4B-BAAD-54741E1B28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" name="Picture 2" descr="A person wearing an orange helmet and jacket holding a rope&#10;&#10;AI-generated content may be incorrect.">
            <a:extLst>
              <a:ext uri="{FF2B5EF4-FFF2-40B4-BE49-F238E27FC236}">
                <a16:creationId xmlns:a16="http://schemas.microsoft.com/office/drawing/2014/main" id="{3A802E41-2537-158E-B295-C582A91626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1" t="16502" r="25344"/>
          <a:stretch>
            <a:fillRect/>
          </a:stretch>
        </p:blipFill>
        <p:spPr>
          <a:xfrm>
            <a:off x="6714898" y="1082731"/>
            <a:ext cx="1938217" cy="16058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771234-CF27-651C-41DC-FF2CAD6AE8B5}"/>
              </a:ext>
            </a:extLst>
          </p:cNvPr>
          <p:cNvSpPr txBox="1"/>
          <p:nvPr/>
        </p:nvSpPr>
        <p:spPr>
          <a:xfrm>
            <a:off x="1550814" y="4818936"/>
            <a:ext cx="20242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Example: simulating the Arctic Oscilllation index using the AISIT database</a:t>
            </a:r>
          </a:p>
        </p:txBody>
      </p:sp>
      <p:pic>
        <p:nvPicPr>
          <p:cNvPr id="10" name="Picture 9" descr="A person sitting in a grassy area&#10;&#10;AI-generated content may be incorrect.">
            <a:extLst>
              <a:ext uri="{FF2B5EF4-FFF2-40B4-BE49-F238E27FC236}">
                <a16:creationId xmlns:a16="http://schemas.microsoft.com/office/drawing/2014/main" id="{529D5BF1-C0D6-ECAD-2AB4-2880A424199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424" r="19190"/>
          <a:stretch>
            <a:fillRect/>
          </a:stretch>
        </p:blipFill>
        <p:spPr>
          <a:xfrm>
            <a:off x="4787644" y="1060082"/>
            <a:ext cx="1666160" cy="16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14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8DB8-9184-FCF5-2ABF-DB51F891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3" y="275864"/>
            <a:ext cx="4534047" cy="803998"/>
          </a:xfrm>
        </p:spPr>
        <p:txBody>
          <a:bodyPr>
            <a:normAutofit/>
          </a:bodyPr>
          <a:lstStyle/>
          <a:p>
            <a:r>
              <a:rPr lang="en-GB" dirty="0"/>
              <a:t>Publication of data </a:t>
            </a:r>
          </a:p>
        </p:txBody>
      </p:sp>
      <p:pic>
        <p:nvPicPr>
          <p:cNvPr id="10" name="Picture 9" descr="A map of the world&#10;&#10;AI-generated content may be incorrect.">
            <a:extLst>
              <a:ext uri="{FF2B5EF4-FFF2-40B4-BE49-F238E27FC236}">
                <a16:creationId xmlns:a16="http://schemas.microsoft.com/office/drawing/2014/main" id="{1B165798-6B9C-1548-574B-6077D9E9C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679976"/>
            <a:ext cx="5451627" cy="54652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94874-F9E6-C536-5D57-C9DB53202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3" y="1343025"/>
            <a:ext cx="4572002" cy="5239111"/>
          </a:xfrm>
        </p:spPr>
        <p:txBody>
          <a:bodyPr>
            <a:normAutofit/>
          </a:bodyPr>
          <a:lstStyle/>
          <a:p>
            <a:r>
              <a:rPr lang="en-GB" sz="1500" dirty="0"/>
              <a:t>Paper currently in review</a:t>
            </a:r>
          </a:p>
          <a:p>
            <a:pPr marL="0" indent="0">
              <a:buNone/>
            </a:pPr>
            <a:endParaRPr lang="en-GB" sz="1500" dirty="0"/>
          </a:p>
          <a:p>
            <a:r>
              <a:rPr lang="en-GB" sz="1500" dirty="0"/>
              <a:t>Work presented in several conferences</a:t>
            </a:r>
          </a:p>
          <a:p>
            <a:pPr marL="0" indent="0">
              <a:buNone/>
            </a:pPr>
            <a:endParaRPr lang="en-GB" sz="1500" dirty="0"/>
          </a:p>
          <a:p>
            <a:r>
              <a:rPr lang="en-GB" sz="1500" dirty="0"/>
              <a:t>Public Apex portal: </a:t>
            </a:r>
            <a:br>
              <a:rPr lang="en-GB" sz="1500" dirty="0"/>
            </a:br>
            <a:r>
              <a:rPr lang="en-GB" sz="1500" dirty="0">
                <a:hlinkClick r:id="rId3"/>
              </a:rPr>
              <a:t>https://aisit.data.bas.ac.uk/</a:t>
            </a:r>
            <a:endParaRPr lang="en-GB" sz="1500" dirty="0"/>
          </a:p>
          <a:p>
            <a:pPr marL="0" indent="0">
              <a:buNone/>
            </a:pPr>
            <a:endParaRPr lang="en-GB" sz="1500" dirty="0"/>
          </a:p>
          <a:p>
            <a:r>
              <a:rPr lang="en-GB" sz="1500" dirty="0"/>
              <a:t>Data published at the PDC: </a:t>
            </a:r>
            <a:br>
              <a:rPr lang="en-GB" sz="1500" dirty="0"/>
            </a:br>
            <a:r>
              <a:rPr lang="en-GB" sz="1500" dirty="0">
                <a:hlinkClick r:id="rId4"/>
              </a:rPr>
              <a:t>https://doi.org/10.5285/0dfb14d6-73a9-4273-99ed-b231ca581b1d</a:t>
            </a:r>
            <a:endParaRPr lang="en-GB" sz="1500" dirty="0"/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OGL v3</a:t>
            </a:r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XCSV, netCDF, Parquet </a:t>
            </a:r>
          </a:p>
          <a:p>
            <a:pPr lvl="1"/>
            <a:r>
              <a:rPr lang="en-US" altLang="en-US" sz="1400" dirty="0">
                <a:latin typeface="Arial" panose="020B0604020202020204" pitchFamily="34" charset="0"/>
              </a:rPr>
              <a:t>Croissant machine-readable metadata </a:t>
            </a:r>
          </a:p>
          <a:p>
            <a:pPr marL="0" indent="0">
              <a:buNone/>
            </a:pPr>
            <a:endParaRPr lang="en-GB" sz="1500" dirty="0"/>
          </a:p>
          <a:p>
            <a:r>
              <a:rPr lang="en-GB" sz="1500" dirty="0"/>
              <a:t>Publicly accessible </a:t>
            </a:r>
            <a:r>
              <a:rPr lang="en-GB" sz="1500" dirty="0" err="1"/>
              <a:t>Arcgis</a:t>
            </a:r>
            <a:r>
              <a:rPr lang="en-GB" sz="1500" dirty="0"/>
              <a:t> 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77429-30F1-FFD8-D4F0-993CA56CA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5A9407-0732-0C2F-96CF-8E9DFB49D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2313" y="1167447"/>
            <a:ext cx="2305735" cy="80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30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EB77-9C8D-13C3-6539-F9BB3918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8FE70-0038-4E2B-1811-DEBAC49B1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400" dirty="0"/>
              <a:t>https://github.com/NERC-CEH/AISIT-Hackathon-2026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91B3D-FF69-EABD-EBF2-D4FBF3A2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424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FE24-93F6-781C-3061-423ABD0B8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olar bear mother and baby crossing ice">
            <a:extLst>
              <a:ext uri="{FF2B5EF4-FFF2-40B4-BE49-F238E27FC236}">
                <a16:creationId xmlns:a16="http://schemas.microsoft.com/office/drawing/2014/main" id="{7AD755B5-008F-3B54-1881-6ABF9712F3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-22419" y="-17272"/>
            <a:ext cx="12191980" cy="685671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97FA911-49C2-B2DF-A21F-2EFBCDA07C59}"/>
              </a:ext>
            </a:extLst>
          </p:cNvPr>
          <p:cNvGrpSpPr/>
          <p:nvPr/>
        </p:nvGrpSpPr>
        <p:grpSpPr>
          <a:xfrm>
            <a:off x="-25949" y="8406"/>
            <a:ext cx="12243879" cy="1661626"/>
            <a:chOff x="-25949" y="8406"/>
            <a:chExt cx="12243879" cy="16616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62B116-BC54-1B50-6C35-25BE79A1ECA1}"/>
                </a:ext>
              </a:extLst>
            </p:cNvPr>
            <p:cNvSpPr/>
            <p:nvPr/>
          </p:nvSpPr>
          <p:spPr>
            <a:xfrm>
              <a:off x="-25949" y="8406"/>
              <a:ext cx="12243879" cy="1051677"/>
            </a:xfrm>
            <a:prstGeom prst="rect">
              <a:avLst/>
            </a:prstGeom>
            <a:solidFill>
              <a:srgbClr val="F3A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04D9FB6-B2C2-8542-563E-D013C725F558}"/>
                </a:ext>
              </a:extLst>
            </p:cNvPr>
            <p:cNvSpPr txBox="1"/>
            <p:nvPr/>
          </p:nvSpPr>
          <p:spPr>
            <a:xfrm>
              <a:off x="-22439" y="18554"/>
              <a:ext cx="12192000" cy="1651478"/>
            </a:xfrm>
            <a:prstGeom prst="rect">
              <a:avLst/>
            </a:prstGeom>
            <a:solidFill>
              <a:srgbClr val="F3A300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4500" b="1" dirty="0">
                  <a:solidFill>
                    <a:schemeClr val="bg1"/>
                  </a:solidFill>
                </a:rPr>
                <a:t>Find out more on our website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4500" b="1" dirty="0">
                  <a:solidFill>
                    <a:schemeClr val="bg1"/>
                  </a:solidFill>
                </a:rPr>
                <a:t>www.aisit.co.uk</a:t>
              </a:r>
            </a:p>
          </p:txBody>
        </p:sp>
        <p:pic>
          <p:nvPicPr>
            <p:cNvPr id="5" name="Picture 4" descr="A blue circle with yellow letters and a blue circle with yellow letters">
              <a:extLst>
                <a:ext uri="{FF2B5EF4-FFF2-40B4-BE49-F238E27FC236}">
                  <a16:creationId xmlns:a16="http://schemas.microsoft.com/office/drawing/2014/main" id="{FCA2147B-CA02-DA12-890F-A5839AB39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0377" y="59941"/>
              <a:ext cx="2359184" cy="100505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F8F68F7-D887-DB34-DCBB-C72AC69BCE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46"/>
          <a:stretch>
            <a:fillRect/>
          </a:stretch>
        </p:blipFill>
        <p:spPr>
          <a:xfrm>
            <a:off x="636294" y="2071470"/>
            <a:ext cx="6366119" cy="34503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C29AF2-46B7-C8CE-30F5-75FF1C2F72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97" t="4740"/>
          <a:stretch>
            <a:fillRect/>
          </a:stretch>
        </p:blipFill>
        <p:spPr>
          <a:xfrm>
            <a:off x="7661126" y="2071470"/>
            <a:ext cx="3660856" cy="343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8637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1286</TotalTime>
  <Words>577</Words>
  <Application>Microsoft Office PowerPoint</Application>
  <PresentationFormat>Widescreen</PresentationFormat>
  <Paragraphs>101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ADLaM Display</vt:lpstr>
      <vt:lpstr>Agency FB</vt:lpstr>
      <vt:lpstr>Aptos</vt:lpstr>
      <vt:lpstr>Aptos Display</vt:lpstr>
      <vt:lpstr>Arial</vt:lpstr>
      <vt:lpstr>Century Schoolbook</vt:lpstr>
      <vt:lpstr>Wingdings 2</vt:lpstr>
      <vt:lpstr>View</vt:lpstr>
      <vt:lpstr>Office Theme</vt:lpstr>
      <vt:lpstr>AISIT: Hackathon   Project Overview</vt:lpstr>
      <vt:lpstr>PowerPoint Presentation</vt:lpstr>
      <vt:lpstr>PowerPoint Presentation</vt:lpstr>
      <vt:lpstr>PowerPoint Presentation</vt:lpstr>
      <vt:lpstr>Schema &amp; Metadata Standards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Publication of data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Thorpe-Morgan</dc:creator>
  <cp:lastModifiedBy>Charles Thorpe-Morgan - BAS</cp:lastModifiedBy>
  <cp:revision>441</cp:revision>
  <dcterms:created xsi:type="dcterms:W3CDTF">2024-08-26T09:07:06Z</dcterms:created>
  <dcterms:modified xsi:type="dcterms:W3CDTF">2026-09-08T18:37:34Z</dcterms:modified>
</cp:coreProperties>
</file>